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0dd4842cb76e4a24" /><Relationship Type="http://schemas.openxmlformats.org/package/2006/relationships/metadata/core-properties" Target="/docProps/core.xml" Id="R07b76605f83447f1" /><Relationship Type="http://schemas.openxmlformats.org/officeDocument/2006/relationships/extended-properties" Target="/docProps/app.xml" Id="Rf2d9889edece4733" /><Relationship Type="http://schemas.openxmlformats.org/officeDocument/2006/relationships/custom-properties" Target="/docProps/custom.xml" Id="R0f106211e5144ec3"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76a11880882a4409"/>
  </p:notesMasterIdLst>
  <p:sldIdLst>
    <p:sldId id="256" r:id="R4a8033f28c9c45c8"/>
    <p:sldId id="257" r:id="Rd59a497788544a4d"/>
    <p:sldId id="258" r:id="R8a1d1daf3c194e49"/>
    <p:sldId id="259" r:id="Rc3f859d6bca64578"/>
    <p:sldId id="260" r:id="R6d29fba1000547ed"/>
    <p:sldId id="261" r:id="Rdff0ed8d180c4c52"/>
    <p:sldId id="262" r:id="R4984bd05d4e84cb7"/>
    <p:sldId id="263" r:id="Rcdac39ad67a14f80"/>
    <p:sldId id="264" r:id="Rd85b7f536f8b4680"/>
    <p:sldId id="265" r:id="R74e43783273e4315"/>
    <p:sldId id="266" r:id="Rb8fb00414f7a49f2"/>
    <p:sldId id="267" r:id="R4679bb9d6786414d"/>
    <p:sldId id="268" r:id="R4e18453726444dec"/>
    <p:sldId id="269" r:id="R7887bf4f4544441e"/>
    <p:sldId id="270" r:id="R2cd065b0699f4df3"/>
    <p:sldId id="271" r:id="Ra7477fb489bf4158"/>
    <p:sldId id="272" r:id="R748ce7f74dee42db"/>
  </p:sldIdLst>
  <p:sldSz cx="12192000" cy="6858000"/>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4a8033f28c9c45c8" /><Relationship Type="http://schemas.openxmlformats.org/officeDocument/2006/relationships/notesMaster" Target="/ppt/notesMasters/notesMaster1.xml" Id="R76a11880882a4409" /><Relationship Type="http://schemas.openxmlformats.org/officeDocument/2006/relationships/slide" Target="/ppt/slides/slide2.xml" Id="Rd59a497788544a4d" /><Relationship Type="http://schemas.openxmlformats.org/officeDocument/2006/relationships/slide" Target="/ppt/slides/slide3.xml" Id="R8a1d1daf3c194e49" /><Relationship Type="http://schemas.openxmlformats.org/officeDocument/2006/relationships/slide" Target="/ppt/slides/slide4.xml" Id="Rc3f859d6bca64578" /><Relationship Type="http://schemas.openxmlformats.org/officeDocument/2006/relationships/slide" Target="/ppt/slides/slide5.xml" Id="R6d29fba1000547ed" /><Relationship Type="http://schemas.openxmlformats.org/officeDocument/2006/relationships/slide" Target="/ppt/slides/slide6.xml" Id="Rdff0ed8d180c4c52" /><Relationship Type="http://schemas.openxmlformats.org/officeDocument/2006/relationships/slide" Target="/ppt/slides/slide7.xml" Id="R4984bd05d4e84cb7" /><Relationship Type="http://schemas.openxmlformats.org/officeDocument/2006/relationships/slide" Target="/ppt/slides/slide8.xml" Id="Rcdac39ad67a14f80" /><Relationship Type="http://schemas.openxmlformats.org/officeDocument/2006/relationships/slide" Target="/ppt/slides/slide9.xml" Id="Rd85b7f536f8b4680" /><Relationship Type="http://schemas.openxmlformats.org/officeDocument/2006/relationships/slide" Target="/ppt/slides/slide10.xml" Id="R74e43783273e4315" /><Relationship Type="http://schemas.openxmlformats.org/officeDocument/2006/relationships/slide" Target="/ppt/slides/slide11.xml" Id="Rb8fb00414f7a49f2" /><Relationship Type="http://schemas.openxmlformats.org/officeDocument/2006/relationships/slide" Target="/ppt/slides/slide12.xml" Id="R4679bb9d6786414d" /><Relationship Type="http://schemas.openxmlformats.org/officeDocument/2006/relationships/slide" Target="/ppt/slides/slide13.xml" Id="R4e18453726444dec" /><Relationship Type="http://schemas.openxmlformats.org/officeDocument/2006/relationships/slide" Target="/ppt/slides/slide14.xml" Id="R7887bf4f4544441e" /><Relationship Type="http://schemas.openxmlformats.org/officeDocument/2006/relationships/slide" Target="/ppt/slides/slide15.xml" Id="R2cd065b0699f4df3" /><Relationship Type="http://schemas.openxmlformats.org/officeDocument/2006/relationships/slide" Target="/ppt/slides/slide16.xml" Id="Ra7477fb489bf4158" /><Relationship Type="http://schemas.openxmlformats.org/officeDocument/2006/relationships/slide" Target="/ppt/slides/slide17.xml" Id="R748ce7f74dee42d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3dd207f0bda64e22"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5af2ddd6b70f47d5" /><Relationship Type="http://schemas.openxmlformats.org/officeDocument/2006/relationships/slide" Target="/ppt/slides/slide1.xml" Id="R8f2018078b494881"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4fcbb8dfada5479f" /><Relationship Type="http://schemas.openxmlformats.org/officeDocument/2006/relationships/slide" Target="/ppt/slides/slide2.xml" Id="Rc4dd9928be5e4799"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566c6aaf87344b7b" /><Relationship Type="http://schemas.openxmlformats.org/officeDocument/2006/relationships/slide" Target="/ppt/slides/slide3.xml" Id="R8a79cbb9f1904586"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2aa31a29deb34f95" /><Relationship Type="http://schemas.openxmlformats.org/officeDocument/2006/relationships/slide" Target="/ppt/slides/slide4.xml" Id="R24b4cbc5edbf4452"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d24ed7e875ba41df" /><Relationship Type="http://schemas.openxmlformats.org/officeDocument/2006/relationships/slide" Target="/ppt/slides/slide5.xml" Id="Ra447b50bffe545ce"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0b16174f872b4fd7" /><Relationship Type="http://schemas.openxmlformats.org/officeDocument/2006/relationships/slide" Target="/ppt/slides/slide6.xml" Id="R85e8cf763d7d46ae" /></Relationships>
</file>

<file path=ppt/notesSlides/_rels/notesSlide7.xml.rels>&#65279;<?xml version="1.0" encoding="utf-8"?><Relationships xmlns="http://schemas.openxmlformats.org/package/2006/relationships"><Relationship Type="http://schemas.openxmlformats.org/officeDocument/2006/relationships/notesMaster" Target="/ppt/notesMasters/notesMaster1.xml" Id="R4dab8fa834f542cb" /><Relationship Type="http://schemas.openxmlformats.org/officeDocument/2006/relationships/slide" Target="/ppt/slides/slide7.xml" Id="R13785daa2216499d" /></Relationships>
</file>

<file path=ppt/notesSlides/_rels/notesSlide8.xml.rels>&#65279;<?xml version="1.0" encoding="utf-8"?><Relationships xmlns="http://schemas.openxmlformats.org/package/2006/relationships"><Relationship Type="http://schemas.openxmlformats.org/officeDocument/2006/relationships/notesMaster" Target="/ppt/notesMasters/notesMaster1.xml" Id="Rce16cf45b72f45d2" /><Relationship Type="http://schemas.openxmlformats.org/officeDocument/2006/relationships/slide" Target="/ppt/slides/slide8.xml" Id="R633882c943dc4fc3" /></Relationships>
</file>

<file path=ppt/notesSlides/_rels/notesSlide9.xml.rels>&#65279;<?xml version="1.0" encoding="utf-8"?><Relationships xmlns="http://schemas.openxmlformats.org/package/2006/relationships"><Relationship Type="http://schemas.openxmlformats.org/officeDocument/2006/relationships/notesMaster" Target="/ppt/notesMasters/notesMaster1.xml" Id="Rbdb43cf8e0fb425e" /><Relationship Type="http://schemas.openxmlformats.org/officeDocument/2006/relationships/slide" Target="/ppt/slides/slide9.xml" Id="R41866075ca564159" /></Relationships>
</file>

<file path=ppt/notesSlides/_rels/notesSlide10.xml.rels>&#65279;<?xml version="1.0" encoding="utf-8"?><Relationships xmlns="http://schemas.openxmlformats.org/package/2006/relationships"><Relationship Type="http://schemas.openxmlformats.org/officeDocument/2006/relationships/notesMaster" Target="/ppt/notesMasters/notesMaster1.xml" Id="R6f48a48f99284316" /><Relationship Type="http://schemas.openxmlformats.org/officeDocument/2006/relationships/slide" Target="/ppt/slides/slide10.xml" Id="R811b2127a6dc4e4f" /></Relationships>
</file>

<file path=ppt/notesSlides/_rels/notesSlide11.xml.rels>&#65279;<?xml version="1.0" encoding="utf-8"?><Relationships xmlns="http://schemas.openxmlformats.org/package/2006/relationships"><Relationship Type="http://schemas.openxmlformats.org/officeDocument/2006/relationships/notesMaster" Target="/ppt/notesMasters/notesMaster1.xml" Id="R0f9a0e4a4de84fb0" /><Relationship Type="http://schemas.openxmlformats.org/officeDocument/2006/relationships/slide" Target="/ppt/slides/slide11.xml" Id="R58ef47ff96114993" /></Relationships>
</file>

<file path=ppt/notesSlides/_rels/notesSlide12.xml.rels>&#65279;<?xml version="1.0" encoding="utf-8"?><Relationships xmlns="http://schemas.openxmlformats.org/package/2006/relationships"><Relationship Type="http://schemas.openxmlformats.org/officeDocument/2006/relationships/notesMaster" Target="/ppt/notesMasters/notesMaster1.xml" Id="Rdd002768b7414b65" /><Relationship Type="http://schemas.openxmlformats.org/officeDocument/2006/relationships/slide" Target="/ppt/slides/slide12.xml" Id="Rcfa9b9a6bd644067" /></Relationships>
</file>

<file path=ppt/notesSlides/_rels/notesSlide13.xml.rels>&#65279;<?xml version="1.0" encoding="utf-8"?><Relationships xmlns="http://schemas.openxmlformats.org/package/2006/relationships"><Relationship Type="http://schemas.openxmlformats.org/officeDocument/2006/relationships/notesMaster" Target="/ppt/notesMasters/notesMaster1.xml" Id="Ra716d5d2823b4268" /><Relationship Type="http://schemas.openxmlformats.org/officeDocument/2006/relationships/slide" Target="/ppt/slides/slide13.xml" Id="Rad8ae6bd543d485c" /></Relationships>
</file>

<file path=ppt/notesSlides/_rels/notesSlide14.xml.rels>&#65279;<?xml version="1.0" encoding="utf-8"?><Relationships xmlns="http://schemas.openxmlformats.org/package/2006/relationships"><Relationship Type="http://schemas.openxmlformats.org/officeDocument/2006/relationships/notesMaster" Target="/ppt/notesMasters/notesMaster1.xml" Id="Rf10cb510032c41c5" /><Relationship Type="http://schemas.openxmlformats.org/officeDocument/2006/relationships/slide" Target="/ppt/slides/slide14.xml" Id="R650299b1909f4469" /></Relationships>
</file>

<file path=ppt/notesSlides/_rels/notesSlide15.xml.rels>&#65279;<?xml version="1.0" encoding="utf-8"?><Relationships xmlns="http://schemas.openxmlformats.org/package/2006/relationships"><Relationship Type="http://schemas.openxmlformats.org/officeDocument/2006/relationships/notesMaster" Target="/ppt/notesMasters/notesMaster1.xml" Id="R3c069547b6624e05" /><Relationship Type="http://schemas.openxmlformats.org/officeDocument/2006/relationships/slide" Target="/ppt/slides/slide15.xml" Id="R23c3650a133d48f4" /></Relationships>
</file>

<file path=ppt/notesSlides/_rels/notesSlide16.xml.rels>&#65279;<?xml version="1.0" encoding="utf-8"?><Relationships xmlns="http://schemas.openxmlformats.org/package/2006/relationships"><Relationship Type="http://schemas.openxmlformats.org/officeDocument/2006/relationships/notesMaster" Target="/ppt/notesMasters/notesMaster1.xml" Id="Rd05bcddd7c834549" /><Relationship Type="http://schemas.openxmlformats.org/officeDocument/2006/relationships/slide" Target="/ppt/slides/slide16.xml" Id="Rce5b06cf7a584d2c" /></Relationships>
</file>

<file path=ppt/notesSlides/_rels/notesSlide17.xml.rels>&#65279;<?xml version="1.0" encoding="utf-8"?><Relationships xmlns="http://schemas.openxmlformats.org/package/2006/relationships"><Relationship Type="http://schemas.openxmlformats.org/officeDocument/2006/relationships/notesMaster" Target="/ppt/notesMasters/notesMaster1.xml" Id="R45accecbd4844c7a" /><Relationship Type="http://schemas.openxmlformats.org/officeDocument/2006/relationships/slide" Target="/ppt/slides/slide17.xml" Id="R395fe368166449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Title slide. NutriGuide AI is a full-stack Agentic AI web application powered by IBM Granite LLM. It generates personalised 7-day nutrition plans with ethical guardrails, medical disclaimers, and an AI chat interface.</a:t>
            </a: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NutriGuide AI solves the problem of generic nutrition advice by using IBM Granite LLM to generate personalised, medically-aware plans. The application is fully deployed on GitHub with 13 committed files and 2,969 lines of code.</a:t>
            </a: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NutriGuide AI has 12 key features including IBM Granite LLM integration, agentic ReAct pipeline, safety guardrails, diet and medical awareness, auto-save to markdown, AI chat, plan history, and full demo mode.</a:t>
            </a:r>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architecture has 4 layers: Presentation (HTML/JS), API Orchestration (Flask), Core Intelligence (Granite Agent), and IBM Cloud. Each request flows through validation, the agentic pipeline, guardrails, and outputs to both the browser and a saved .md file.</a:t>
            </a: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ReAct agentic pipeline has 6 phases. Phase 3 calls IBM Granite via watsonx.ai. Phase 4 applies safety guardrails using pre-compiled regex patterns. The pipeline reflects on each output before returning it to the user.</a:t>
            </a:r>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main application screen shows the left sidebar with the user profile form (name, age, location, diet, medical history) and the right panel showing the generated nutrition plan. The plan is rendered with formatted headings, tables, and a download button.</a:t>
            </a:r>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Ask NutriGuide chat tab allows users to ask follow-up questions. The user's profile context is automatically injected into each query so IBM Granite can give personalised answers. All responses are screened by guardrails before display.</a:t>
            </a:r>
          </a:p>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slide shows the actual content from the sample nutrition plan markdown file. The plan includes a nutritional assessment, daily macronutrient targets, and a detailed meal plan for Day 1 with calorie counts for each meal.</a:t>
            </a:r>
          </a:p>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slide shows the recommended and restricted foods from the sample nutrition plan markdown file for a Type 2 Diabetes patient. The list is generated by IBM Granite and includes locally relevant Indian foods like karela, methi, and amla.</a:t>
            </a:r>
          </a:p>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NutriGuide AI implements all 5 IBM AI Ethics principles. The guardrail system uses pre-compiled regex patterns to screen all LLM output before it reaches the user. The HAM framework ensures responses are always Helpful, Accurate, and Mindful. A medical disclaimer is appended to every generated plan.</a:t>
            </a:r>
          </a:p>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Flask backend exposes 6 REST API endpoints. The most important is POST /api/generate-plan which triggers the full agentic pipeline. All inputs are sanitised to prevent prompt injection. The API uses CORS and returns structured JSON responses.</a:t>
            </a:r>
          </a:p>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tech stack uses IBM Granite as the AI model, watsonx.ai as the platform, Flask for the backend, and vanilla JS for the frontend. 13 files were committed totalling 2,969 lines of code. The project has no heavy frontend framework dependencies.</a:t>
            </a:r>
          </a:p>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project followed all 7 phases of the Agentic AI SDLC. Phase 5 deployment is on GitHub. Phase 6 monitoring includes the /health endpoint and guardrail logging. Phase 7 defines the future roadmap including RAG, authentication, and multi-language support.</a:t>
            </a:r>
          </a:p>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Every generated nutrition plan is automatically saved as a timestamped Markdown file with a YAML front-matter header. The Saved Plans tab lets users browse and download all plans. The _save_plan_to_file function in app.py handles the auto-save.</a:t>
            </a:r>
          </a:p>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project was deployed to GitHub at CreativeCrew2026/NutritionAgent. The initial commit contained 13 files and 2,969 insertions. The PPT file is also committed separately. Anyone can clone and run with run.bat.</a:t>
            </a:r>
          </a:p>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slide reproduces the Weekly Shopping List section from the sample nutrition plan markdown file. Items are organised into 6 categories: Grains and Legumes, Vegetables, Fruits, Proteins, Nuts and Oils, and Spices.</a:t>
            </a:r>
          </a:p>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Final slide. NutriGuide AI is a complete Agentic AI application powered by IBM Granite. It follows all 7 phases of the Agentic AI SDLC, implements IBM AI Ethics principles, and is fully deployed on GitHub at CreativeCrew2026/NutritionAgent.</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e89db80c3fa491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d592047c9f4411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250d3f374a340d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d822ec8905345a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c287419dd7a414f"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ff5845c0cf574855"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04cb989347f14f6d" /><Relationship Type="http://schemas.openxmlformats.org/officeDocument/2006/relationships/notesSlide" Target="/ppt/notesSlides/notesSlide1.xml" Id="R0b49b69b19e34e8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60ceec4dae34b2a" /><Relationship Type="http://schemas.openxmlformats.org/officeDocument/2006/relationships/notesSlide" Target="/ppt/notesSlides/notesSlide2.xml" Id="Re9f7770eefd9427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deff7e5f8074a86" /><Relationship Type="http://schemas.openxmlformats.org/officeDocument/2006/relationships/notesSlide" Target="/ppt/notesSlides/notesSlide3.xml" Id="Rf30956382ea144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8293a9a16484d97" /><Relationship Type="http://schemas.openxmlformats.org/officeDocument/2006/relationships/notesSlide" Target="/ppt/notesSlides/notesSlide4.xml" Id="R3cd01c4ab7e945b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e0f5f2beb984aa0" /><Relationship Type="http://schemas.openxmlformats.org/officeDocument/2006/relationships/notesSlide" Target="/ppt/notesSlides/notesSlide5.xml" Id="R56b254e48f194eb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cc0859e07054a29" /><Relationship Type="http://schemas.openxmlformats.org/officeDocument/2006/relationships/notesSlide" Target="/ppt/notesSlides/notesSlide6.xml" Id="R0e2d073b118d4d4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a2703ca6dc54073" /><Relationship Type="http://schemas.openxmlformats.org/officeDocument/2006/relationships/notesSlide" Target="/ppt/notesSlides/notesSlide7.xml" Id="Rf8b20d7e1105435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405e4e0713c40a1" /><Relationship Type="http://schemas.openxmlformats.org/officeDocument/2006/relationships/notesSlide" Target="/ppt/notesSlides/notesSlide8.xml" Id="R8fb2f0a5a51b479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bf5af18732042c5" /><Relationship Type="http://schemas.openxmlformats.org/officeDocument/2006/relationships/notesSlide" Target="/ppt/notesSlides/notesSlide9.xml" Id="Raa50013da5d4411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b416d107b0c45f3" /><Relationship Type="http://schemas.openxmlformats.org/officeDocument/2006/relationships/notesSlide" Target="/ppt/notesSlides/notesSlide10.xml" Id="R9ef7babce62b48a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2a4730438884547" /><Relationship Type="http://schemas.openxmlformats.org/officeDocument/2006/relationships/notesSlide" Target="/ppt/notesSlides/notesSlide11.xml" Id="R5905c621d906468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689f6e8337745c6" /><Relationship Type="http://schemas.openxmlformats.org/officeDocument/2006/relationships/notesSlide" Target="/ppt/notesSlides/notesSlide12.xml" Id="R81e3be61300b4fa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58d1f0b123a402a" /><Relationship Type="http://schemas.openxmlformats.org/officeDocument/2006/relationships/notesSlide" Target="/ppt/notesSlides/notesSlide13.xml" Id="R4fa02c9671034e6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272ef3137764bd3" /><Relationship Type="http://schemas.openxmlformats.org/officeDocument/2006/relationships/notesSlide" Target="/ppt/notesSlides/notesSlide14.xml" Id="R4fb87aa20fdb47d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0870405012c408d" /><Relationship Type="http://schemas.openxmlformats.org/officeDocument/2006/relationships/notesSlide" Target="/ppt/notesSlides/notesSlide15.xml" Id="R7eb8ac7bd811449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d64548607164d9b" /><Relationship Type="http://schemas.openxmlformats.org/officeDocument/2006/relationships/notesSlide" Target="/ppt/notesSlides/notesSlide16.xml" Id="R15e393209c8b4f7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768bd8db57d4dea" /><Relationship Type="http://schemas.openxmlformats.org/officeDocument/2006/relationships/notesSlide" Target="/ppt/notesSlides/notesSlide17.xml" Id="R867ee86e0427449f" /></Relationships>
</file>

<file path=ppt/slides/slide1.xml><?xml version="1.0" encoding="utf-8"?>
<p:sld xmlns:p="http://schemas.openxmlformats.org/presentationml/2006/main">
  <p:cSld>
    <p:bg>
      <p:bgPr>
        <a:solidFill xmlns:a="http://schemas.openxmlformats.org/drawingml/2006/main">
          <a:srgbClr val="0F3460"/>
        </a:solidFill>
      </p:bgPr>
    </p:bg>
    <p:spTree>
      <p:nvGrpSpPr>
        <p:cNvPr id="1" name=""/>
        <p:cNvGrpSpPr/>
        <p:nvPr/>
      </p:nvGrpSpPr>
      <p:grpSpPr/>
      <p:sp>
        <p:nvSpPr>
          <p:cNvPr id="100000" name="TopBar"/>
          <p:cNvSpPr txBox="1"/>
          <p:nvPr/>
        </p:nvSpPr>
        <p:spPr>
          <a:xfrm xmlns:a="http://schemas.openxmlformats.org/drawingml/2006/main">
            <a:off x="0" y="0"/>
            <a:ext cx="12193200" cy="288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001" name="IBM"/>
          <p:cNvSpPr txBox="1"/>
          <p:nvPr/>
        </p:nvSpPr>
        <p:spPr>
          <a:xfrm xmlns:a="http://schemas.openxmlformats.org/drawingml/2006/main">
            <a:off x="180000" y="36000"/>
            <a:ext cx="720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FFFFFF"/>
                </a:solidFill>
              </a:rPr>
              <a:t>IBM Granite  |  watsonx.ai  |  Agentic AI</a:t>
            </a:r>
          </a:p>
        </p:txBody>
      </p:sp>
      <p:sp>
        <p:nvSpPr>
          <p:cNvPr id="100002" name="Emoji"/>
          <p:cNvSpPr txBox="1"/>
          <p:nvPr/>
        </p:nvSpPr>
        <p:spPr>
          <a:xfrm xmlns:a="http://schemas.openxmlformats.org/drawingml/2006/main">
            <a:off x="720000" y="900000"/>
            <a:ext cx="1800000" cy="108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7200">
                <a:solidFill>
                  <a:srgbClr val="FFFFFF"/>
                </a:solidFill>
              </a:rPr>
              <a:t>🥗</a:t>
            </a:r>
          </a:p>
        </p:txBody>
      </p:sp>
      <p:sp>
        <p:nvSpPr>
          <p:cNvPr id="100003" name="Title"/>
          <p:cNvSpPr txBox="1"/>
          <p:nvPr/>
        </p:nvSpPr>
        <p:spPr>
          <a:xfrm xmlns:a="http://schemas.openxmlformats.org/drawingml/2006/main">
            <a:off x="2700000" y="900000"/>
            <a:ext cx="9000000" cy="12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5400" b="1">
                <a:solidFill>
                  <a:srgbClr val="FFFFFF"/>
                </a:solidFill>
              </a:rPr>
              <a:t>NutriGuide AI</a:t>
            </a:r>
          </a:p>
        </p:txBody>
      </p:sp>
      <p:sp>
        <p:nvSpPr>
          <p:cNvPr id="100004" name="Sub"/>
          <p:cNvSpPr txBox="1"/>
          <p:nvPr/>
        </p:nvSpPr>
        <p:spPr>
          <a:xfrm xmlns:a="http://schemas.openxmlformats.org/drawingml/2006/main">
            <a:off x="2700000" y="2232000"/>
            <a:ext cx="900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200">
                <a:solidFill>
                  <a:srgbClr val="A8C7FA"/>
                </a:solidFill>
              </a:rPr>
              <a:t>Personalised Nutrition Agent powered by IBM Granite LLM</a:t>
            </a:r>
          </a:p>
        </p:txBody>
      </p:sp>
      <p:sp>
        <p:nvSpPr>
          <p:cNvPr id="100005" name="Pills"/>
          <p:cNvSpPr txBox="1"/>
          <p:nvPr/>
        </p:nvSpPr>
        <p:spPr>
          <a:xfrm xmlns:a="http://schemas.openxmlformats.org/drawingml/2006/main">
            <a:off x="2700000" y="2880000"/>
            <a:ext cx="9000000" cy="3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a:solidFill>
                  <a:srgbClr val="78B9FF"/>
                </a:solidFill>
              </a:rPr>
              <a:t>Flask  •  Python 3.13  •  watsonx.ai  •  ReAct Agentic Pipeline  •  AI Ethics</a:t>
            </a:r>
          </a:p>
        </p:txBody>
      </p:sp>
      <p:sp>
        <p:nvSpPr>
          <p:cNvPr id="100006" name="BottomLine"/>
          <p:cNvSpPr txBox="1"/>
          <p:nvPr/>
        </p:nvSpPr>
        <p:spPr>
          <a:xfrm xmlns:a="http://schemas.openxmlformats.org/drawingml/2006/main">
            <a:off x="0" y="6408000"/>
            <a:ext cx="12193200" cy="432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100" b="0">
                <a:solidFill>
                  <a:srgbClr val="FFFFFF"/>
                </a:solidFill>
              </a:rPr>
              <a:t>Agentic AI SDLC  |  IBM AI Ethics  |  Medical Guardrails  |  GitHub: CreativeCrew2026/NutritionAgent</a:t>
            </a:r>
          </a:p>
        </p:txBody>
      </p:sp>
    </p:spTree>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07" name="TopBar"/>
          <p:cNvSpPr txBox="1"/>
          <p:nvPr/>
        </p:nvSpPr>
        <p:spPr>
          <a:xfrm xmlns:a="http://schemas.openxmlformats.org/drawingml/2006/main">
            <a:off x="0" y="0"/>
            <a:ext cx="12193200" cy="288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endParaRPr lang="en-US" sz="1000"/>
          </a:p>
        </p:txBody>
      </p:sp>
      <p:sp>
        <p:nvSpPr>
          <p:cNvPr id="100008" name="TopLabel"/>
          <p:cNvSpPr txBox="1"/>
          <p:nvPr/>
        </p:nvSpPr>
        <p:spPr>
          <a:xfrm xmlns:a="http://schemas.openxmlformats.org/drawingml/2006/main">
            <a:off x="180000" y="36000"/>
            <a:ext cx="900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FFFFFF"/>
                </a:solidFill>
              </a:rPr>
              <a:t>NutriGuide AI  |  Project Overview</a:t>
            </a:r>
          </a:p>
        </p:txBody>
      </p:sp>
      <p:sp>
        <p:nvSpPr>
          <p:cNvPr id="100009" name="Title"/>
          <p:cNvSpPr txBox="1"/>
          <p:nvPr/>
        </p:nvSpPr>
        <p:spPr>
          <a:xfrm xmlns:a="http://schemas.openxmlformats.org/drawingml/2006/main">
            <a:off x="540000" y="432000"/>
            <a:ext cx="1080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0F3460"/>
                </a:solidFill>
              </a:rPr>
              <a:t>Project Overview</a:t>
            </a:r>
          </a:p>
        </p:txBody>
      </p:sp>
      <p:sp>
        <p:nvSpPr>
          <p:cNvPr id="100010" name="Divider"/>
          <p:cNvSpPr txBox="1"/>
          <p:nvPr/>
        </p:nvSpPr>
        <p:spPr>
          <a:xfrm xmlns:a="http://schemas.openxmlformats.org/drawingml/2006/main">
            <a:off x="540000" y="1044000"/>
            <a:ext cx="10800000" cy="288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p:txBody>
      </p:sp>
      <p:sp>
        <p:nvSpPr>
          <p:cNvPr id="100011" name="ProblemBox"/>
          <p:cNvSpPr txBox="1"/>
          <p:nvPr/>
        </p:nvSpPr>
        <p:spPr>
          <a:xfrm xmlns:a="http://schemas.openxmlformats.org/drawingml/2006/main">
            <a:off x="540000" y="1152000"/>
            <a:ext cx="5220000" cy="2520000"/>
          </a:xfrm>
          <a:prstGeom xmlns:a="http://schemas.openxmlformats.org/drawingml/2006/main" prst="rect">
            <a:avLst/>
          </a:prstGeom>
          <a:solidFill xmlns:a="http://schemas.openxmlformats.org/drawingml/2006/main">
            <a:srgbClr val="F4F4F4"/>
          </a:solidFill>
        </p:spPr>
        <p:txBody>
          <a:bodyPr xmlns:a="http://schemas.openxmlformats.org/drawingml/2006/main"/>
          <a:lstStyle xmlns:a="http://schemas.openxmlformats.org/drawingml/2006/main"/>
          <a:p xmlns:a="http://schemas.openxmlformats.org/drawingml/2006/main">
            <a:r>
              <a:rPr lang="en-US" sz="1600" b="0">
                <a:solidFill>
                  <a:srgbClr val="1F2328"/>
                </a:solidFill>
              </a:rPr>
              <a:t>Problem Statement</a:t>
            </a:r>
          </a:p>
          <a:p xmlns:a="http://schemas.openxmlformats.org/drawingml/2006/main">
            <a:r>
              <a:rPr lang="en-US" sz="1600" b="0">
                <a:solidFill>
                  <a:srgbClr val="1F2328"/>
                </a:solidFill>
              </a:rPr>
              <a:t/>
            </a:r>
          </a:p>
          <a:p xmlns:a="http://schemas.openxmlformats.org/drawingml/2006/main">
            <a:r>
              <a:rPr lang="en-US" sz="1600" b="0">
                <a:solidFill>
                  <a:srgbClr val="1F2328"/>
                </a:solidFill>
              </a:rPr>
              <a:t>Individuals lack personalised, medically-aware nutrition guidance that respects cultural preferences, health conditions, and local food availability. Generic diet advice ignores critical factors like diabetes, hypertension, and regional food habits.</a:t>
            </a:r>
          </a:p>
        </p:txBody>
      </p:sp>
      <p:sp>
        <p:nvSpPr>
          <p:cNvPr id="100012" name="SolutionBox"/>
          <p:cNvSpPr txBox="1"/>
          <p:nvPr/>
        </p:nvSpPr>
        <p:spPr>
          <a:xfrm xmlns:a="http://schemas.openxmlformats.org/drawingml/2006/main">
            <a:off x="6300000" y="1152000"/>
            <a:ext cx="5220000" cy="2520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1600" b="0">
                <a:solidFill>
                  <a:srgbClr val="FFFFFF"/>
                </a:solidFill>
              </a:rPr>
              <a:t>Our Solution: NutriGuide AI</a:t>
            </a:r>
          </a:p>
          <a:p xmlns:a="http://schemas.openxmlformats.org/drawingml/2006/main">
            <a:r>
              <a:rPr lang="en-US" sz="1600" b="0">
                <a:solidFill>
                  <a:srgbClr val="FFFFFF"/>
                </a:solidFill>
              </a:rPr>
              <a:t/>
            </a:r>
          </a:p>
          <a:p xmlns:a="http://schemas.openxmlformats.org/drawingml/2006/main">
            <a:r>
              <a:rPr lang="en-US" sz="1600" b="0">
                <a:solidFill>
                  <a:srgbClr val="FFFFFF"/>
                </a:solidFill>
              </a:rPr>
              <a:t>An Agentic AI web application using IBM Granite LLM that generates personalised 7-day nutrition plans — diet-aware, location-based, and medically-sensitive — with ethical guardrails and auto-saved Markdown reports.</a:t>
            </a:r>
          </a:p>
        </p:txBody>
      </p:sp>
      <p:sp>
        <p:nvSpPr>
          <p:cNvPr id="100013" name="Stats"/>
          <p:cNvSpPr txBox="1"/>
          <p:nvPr/>
        </p:nvSpPr>
        <p:spPr>
          <a:xfrm xmlns:a="http://schemas.openxmlformats.org/drawingml/2006/main">
            <a:off x="540000" y="3888000"/>
            <a:ext cx="10800000" cy="3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b="1">
                <a:solidFill>
                  <a:srgbClr val="0F62FE"/>
                </a:solidFill>
              </a:rPr>
              <a:t>13 Files Committed  •  2,969 Lines of Code  •  6 REST API Endpoints  •  8+ Safety Guardrails  •  7-Day Meal Plans</a:t>
            </a:r>
          </a:p>
        </p:txBody>
      </p:sp>
      <p:sp>
        <p:nvSpPr>
          <p:cNvPr id="100014" name="BottomLine"/>
          <p:cNvSpPr txBox="1"/>
          <p:nvPr/>
        </p:nvSpPr>
        <p:spPr>
          <a:xfrm xmlns:a="http://schemas.openxmlformats.org/drawingml/2006/main">
            <a:off x="0" y="6408000"/>
            <a:ext cx="12193200" cy="432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1200">
                <a:solidFill>
                  <a:srgbClr val="FFFFFF"/>
                </a:solidFill>
              </a:rPr>
              <a:t>GitHub: https://github.com/CreativeCrew2026/NutritionAgent</a:t>
            </a:r>
          </a:p>
        </p:txBody>
      </p:sp>
    </p:spTree>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15" name="TopBar"/>
          <p:cNvSpPr txBox="1"/>
          <p:nvPr/>
        </p:nvSpPr>
        <p:spPr>
          <a:xfrm xmlns:a="http://schemas.openxmlformats.org/drawingml/2006/main">
            <a:off x="0" y="0"/>
            <a:ext cx="12193200" cy="288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100" b="1">
                <a:solidFill>
                  <a:srgbClr val="FFFFFF"/>
                </a:solidFill>
              </a:rPr>
              <a:t>NutriGuide AI  |  Key Features</a:t>
            </a:r>
          </a:p>
        </p:txBody>
      </p:sp>
      <p:sp>
        <p:nvSpPr>
          <p:cNvPr id="100016" name="Title"/>
          <p:cNvSpPr txBox="1"/>
          <p:nvPr/>
        </p:nvSpPr>
        <p:spPr>
          <a:xfrm xmlns:a="http://schemas.openxmlformats.org/drawingml/2006/main">
            <a:off x="540000" y="432000"/>
            <a:ext cx="1080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0F3460"/>
                </a:solidFill>
              </a:rPr>
              <a:t>Key Features</a:t>
            </a:r>
          </a:p>
        </p:txBody>
      </p:sp>
      <p:sp>
        <p:nvSpPr>
          <p:cNvPr id="100017" name="Divider"/>
          <p:cNvSpPr txBox="1"/>
          <p:nvPr/>
        </p:nvSpPr>
        <p:spPr>
          <a:xfrm xmlns:a="http://schemas.openxmlformats.org/drawingml/2006/main">
            <a:off x="540000" y="1044000"/>
            <a:ext cx="10800000" cy="288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p:txBody>
      </p:sp>
      <p:sp>
        <p:nvSpPr>
          <p:cNvPr id="100018" name="F1"/>
          <p:cNvSpPr txBox="1"/>
          <p:nvPr/>
        </p:nvSpPr>
        <p:spPr>
          <a:xfrm xmlns:a="http://schemas.openxmlformats.org/drawingml/2006/main">
            <a:off x="540000" y="1188000"/>
            <a:ext cx="3420000" cy="1260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1400" b="0">
                <a:solidFill>
                  <a:srgbClr val="FFFFFF"/>
                </a:solidFill>
              </a:rPr>
              <a:t>IBM Granite LLM</a:t>
            </a:r>
          </a:p>
          <a:p xmlns:a="http://schemas.openxmlformats.org/drawingml/2006/main">
            <a:r>
              <a:rPr lang="en-US" sz="1400" b="0">
                <a:solidFill>
                  <a:srgbClr val="FFFFFF"/>
                </a:solidFill>
              </a:rPr>
              <a:t>ibm/granite-13b-instruct-v2</a:t>
            </a:r>
          </a:p>
          <a:p xmlns:a="http://schemas.openxmlformats.org/drawingml/2006/main">
            <a:r>
              <a:rPr lang="en-US" sz="1400" b="0">
                <a:solidFill>
                  <a:srgbClr val="FFFFFF"/>
                </a:solidFill>
              </a:rPr>
              <a:t>via watsonx.ai SDK</a:t>
            </a:r>
          </a:p>
        </p:txBody>
      </p:sp>
      <p:sp>
        <p:nvSpPr>
          <p:cNvPr id="100019" name="F2"/>
          <p:cNvSpPr txBox="1"/>
          <p:nvPr/>
        </p:nvSpPr>
        <p:spPr>
          <a:xfrm xmlns:a="http://schemas.openxmlformats.org/drawingml/2006/main">
            <a:off x="4320000" y="1188000"/>
            <a:ext cx="3420000" cy="126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400" b="0">
                <a:solidFill>
                  <a:srgbClr val="FFFFFF"/>
                </a:solidFill>
              </a:rPr>
              <a:t>Agentic AI Pipeline</a:t>
            </a:r>
          </a:p>
          <a:p xmlns:a="http://schemas.openxmlformats.org/drawingml/2006/main">
            <a:r>
              <a:rPr lang="en-US" sz="1400" b="0">
                <a:solidFill>
                  <a:srgbClr val="FFFFFF"/>
                </a:solidFill>
              </a:rPr>
              <a:t>ReAct: Plan &gt; Retrieve</a:t>
            </a:r>
          </a:p>
          <a:p xmlns:a="http://schemas.openxmlformats.org/drawingml/2006/main">
            <a:r>
              <a:rPr lang="en-US" sz="1400" b="0">
                <a:solidFill>
                  <a:srgbClr val="FFFFFF"/>
                </a:solidFill>
              </a:rPr>
              <a:t>&gt; Generate &gt; Guardrail &gt; Reflect</a:t>
            </a:r>
          </a:p>
        </p:txBody>
      </p:sp>
      <p:sp>
        <p:nvSpPr>
          <p:cNvPr id="100020" name="F3"/>
          <p:cNvSpPr txBox="1"/>
          <p:nvPr/>
        </p:nvSpPr>
        <p:spPr>
          <a:xfrm xmlns:a="http://schemas.openxmlformats.org/drawingml/2006/main">
            <a:off x="8100000" y="1188000"/>
            <a:ext cx="3420000" cy="1260000"/>
          </a:xfrm>
          <a:prstGeom xmlns:a="http://schemas.openxmlformats.org/drawingml/2006/main" prst="rect">
            <a:avLst/>
          </a:prstGeom>
          <a:solidFill xmlns:a="http://schemas.openxmlformats.org/drawingml/2006/main">
            <a:srgbClr val="F4F4F4"/>
          </a:solidFill>
        </p:spPr>
        <p:txBody>
          <a:bodyPr xmlns:a="http://schemas.openxmlformats.org/drawingml/2006/main"/>
          <a:lstStyle xmlns:a="http://schemas.openxmlformats.org/drawingml/2006/main"/>
          <a:p xmlns:a="http://schemas.openxmlformats.org/drawingml/2006/main">
            <a:r>
              <a:rPr lang="en-US" sz="1400" b="0">
                <a:solidFill>
                  <a:srgbClr val="1F2328"/>
                </a:solidFill>
              </a:rPr>
              <a:t>AI Safety Guardrails</a:t>
            </a:r>
          </a:p>
          <a:p xmlns:a="http://schemas.openxmlformats.org/drawingml/2006/main">
            <a:r>
              <a:rPr lang="en-US" sz="1400" b="0">
                <a:solidFill>
                  <a:srgbClr val="1F2328"/>
                </a:solidFill>
              </a:rPr>
              <a:t>8+ regex patterns block</a:t>
            </a:r>
          </a:p>
          <a:p xmlns:a="http://schemas.openxmlformats.org/drawingml/2006/main">
            <a:r>
              <a:rPr lang="en-US" sz="1400" b="0">
                <a:solidFill>
                  <a:srgbClr val="1F2328"/>
                </a:solidFill>
              </a:rPr>
              <a:t>harmful / misleading content</a:t>
            </a:r>
          </a:p>
        </p:txBody>
      </p:sp>
      <p:sp>
        <p:nvSpPr>
          <p:cNvPr id="100021" name="F4"/>
          <p:cNvSpPr txBox="1"/>
          <p:nvPr/>
        </p:nvSpPr>
        <p:spPr>
          <a:xfrm xmlns:a="http://schemas.openxmlformats.org/drawingml/2006/main">
            <a:off x="540000" y="2700000"/>
            <a:ext cx="3420000" cy="1260000"/>
          </a:xfrm>
          <a:prstGeom xmlns:a="http://schemas.openxmlformats.org/drawingml/2006/main" prst="rect">
            <a:avLst/>
          </a:prstGeom>
          <a:solidFill xmlns:a="http://schemas.openxmlformats.org/drawingml/2006/main">
            <a:srgbClr val="E8F4FD"/>
          </a:solidFill>
        </p:spPr>
        <p:txBody>
          <a:bodyPr xmlns:a="http://schemas.openxmlformats.org/drawingml/2006/main"/>
          <a:lstStyle xmlns:a="http://schemas.openxmlformats.org/drawingml/2006/main"/>
          <a:p xmlns:a="http://schemas.openxmlformats.org/drawingml/2006/main">
            <a:r>
              <a:rPr lang="en-US" sz="1400" b="0">
                <a:solidFill>
                  <a:srgbClr val="1F2328"/>
                </a:solidFill>
              </a:rPr>
              <a:t>Diet-Aware</a:t>
            </a:r>
          </a:p>
          <a:p xmlns:a="http://schemas.openxmlformats.org/drawingml/2006/main">
            <a:r>
              <a:rPr lang="en-US" sz="1400" b="0">
                <a:solidFill>
                  <a:srgbClr val="1F2328"/>
                </a:solidFill>
              </a:rPr>
              <a:t>Vegetarian, Vegan,</a:t>
            </a:r>
          </a:p>
          <a:p xmlns:a="http://schemas.openxmlformats.org/drawingml/2006/main">
            <a:r>
              <a:rPr lang="en-US" sz="1400" b="0">
                <a:solidFill>
                  <a:srgbClr val="1F2328"/>
                </a:solidFill>
              </a:rPr>
              <a:t>Non-Veg, Flexitarian</a:t>
            </a:r>
          </a:p>
        </p:txBody>
      </p:sp>
      <p:sp>
        <p:nvSpPr>
          <p:cNvPr id="100022" name="F5"/>
          <p:cNvSpPr txBox="1"/>
          <p:nvPr/>
        </p:nvSpPr>
        <p:spPr>
          <a:xfrm xmlns:a="http://schemas.openxmlformats.org/drawingml/2006/main">
            <a:off x="4320000" y="2700000"/>
            <a:ext cx="3420000" cy="1260000"/>
          </a:xfrm>
          <a:prstGeom xmlns:a="http://schemas.openxmlformats.org/drawingml/2006/main" prst="rect">
            <a:avLst/>
          </a:prstGeom>
          <a:solidFill xmlns:a="http://schemas.openxmlformats.org/drawingml/2006/main">
            <a:srgbClr val="198038"/>
          </a:solidFill>
        </p:spPr>
        <p:txBody>
          <a:bodyPr xmlns:a="http://schemas.openxmlformats.org/drawingml/2006/main"/>
          <a:lstStyle xmlns:a="http://schemas.openxmlformats.org/drawingml/2006/main"/>
          <a:p xmlns:a="http://schemas.openxmlformats.org/drawingml/2006/main">
            <a:r>
              <a:rPr lang="en-US" sz="1400" b="0">
                <a:solidFill>
                  <a:srgbClr val="FFFFFF"/>
                </a:solidFill>
              </a:rPr>
              <a:t>Medical-Sensitive</a:t>
            </a:r>
          </a:p>
          <a:p xmlns:a="http://schemas.openxmlformats.org/drawingml/2006/main">
            <a:r>
              <a:rPr lang="en-US" sz="1400" b="0">
                <a:solidFill>
                  <a:srgbClr val="FFFFFF"/>
                </a:solidFill>
              </a:rPr>
              <a:t>Adapts for Diabetes,</a:t>
            </a:r>
          </a:p>
          <a:p xmlns:a="http://schemas.openxmlformats.org/drawingml/2006/main">
            <a:r>
              <a:rPr lang="en-US" sz="1400" b="0">
                <a:solidFill>
                  <a:srgbClr val="FFFFFF"/>
                </a:solidFill>
              </a:rPr>
              <a:t>Hypertension, Heart Disease</a:t>
            </a:r>
          </a:p>
        </p:txBody>
      </p:sp>
      <p:sp>
        <p:nvSpPr>
          <p:cNvPr id="100023" name="F6"/>
          <p:cNvSpPr txBox="1"/>
          <p:nvPr/>
        </p:nvSpPr>
        <p:spPr>
          <a:xfrm xmlns:a="http://schemas.openxmlformats.org/drawingml/2006/main">
            <a:off x="8100000" y="2700000"/>
            <a:ext cx="3420000" cy="1260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1400" b="0">
                <a:solidFill>
                  <a:srgbClr val="FFFFFF"/>
                </a:solidFill>
              </a:rPr>
              <a:t>Auto-Save .md Plans</a:t>
            </a:r>
          </a:p>
          <a:p xmlns:a="http://schemas.openxmlformats.org/drawingml/2006/main">
            <a:r>
              <a:rPr lang="en-US" sz="1400" b="0">
                <a:solidFill>
                  <a:srgbClr val="FFFFFF"/>
                </a:solidFill>
              </a:rPr>
              <a:t>Every plan saved as</a:t>
            </a:r>
          </a:p>
          <a:p xmlns:a="http://schemas.openxmlformats.org/drawingml/2006/main">
            <a:r>
              <a:rPr lang="en-US" sz="1400" b="0">
                <a:solidFill>
                  <a:srgbClr val="FFFFFF"/>
                </a:solidFill>
              </a:rPr>
              <a:t>Markdown file automatically</a:t>
            </a:r>
          </a:p>
        </p:txBody>
      </p:sp>
      <p:sp>
        <p:nvSpPr>
          <p:cNvPr id="100024" name="F7"/>
          <p:cNvSpPr txBox="1"/>
          <p:nvPr/>
        </p:nvSpPr>
        <p:spPr>
          <a:xfrm xmlns:a="http://schemas.openxmlformats.org/drawingml/2006/main">
            <a:off x="540000" y="4212000"/>
            <a:ext cx="1080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b="1">
                <a:solidFill>
                  <a:srgbClr val="0F62FE"/>
                </a:solidFill>
              </a:rPr>
              <a:t>AI Chat Interface  •  Plan History  •  Location-Based Foods  •  Demo Mode (no API key needed)  •  IBM AI Ethics HAM Tone</a:t>
            </a:r>
          </a:p>
        </p:txBody>
      </p:sp>
      <p:sp>
        <p:nvSpPr>
          <p:cNvPr id="100025" name="BottomLine"/>
          <p:cNvSpPr txBox="1"/>
          <p:nvPr/>
        </p:nvSpPr>
        <p:spPr>
          <a:xfrm xmlns:a="http://schemas.openxmlformats.org/drawingml/2006/main">
            <a:off x="0" y="6408000"/>
            <a:ext cx="12193200" cy="432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1200">
                <a:solidFill>
                  <a:srgbClr val="FFFFFF"/>
                </a:solidFill>
              </a:rPr>
              <a:t>GitHub: https://github.com/CreativeCrew2026/NutritionAgent</a:t>
            </a:r>
          </a:p>
        </p:txBody>
      </p:sp>
    </p:spTree>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26" name="TopBar"/>
          <p:cNvSpPr txBox="1"/>
          <p:nvPr/>
        </p:nvSpPr>
        <p:spPr>
          <a:xfrm xmlns:a="http://schemas.openxmlformats.org/drawingml/2006/main">
            <a:off x="0" y="0"/>
            <a:ext cx="12193200" cy="288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100" b="1">
                <a:solidFill>
                  <a:srgbClr val="FFFFFF"/>
                </a:solidFill>
              </a:rPr>
              <a:t>NutriGuide AI  |  System Architecture</a:t>
            </a:r>
          </a:p>
        </p:txBody>
      </p:sp>
      <p:sp>
        <p:nvSpPr>
          <p:cNvPr id="100027" name="Title"/>
          <p:cNvSpPr txBox="1"/>
          <p:nvPr/>
        </p:nvSpPr>
        <p:spPr>
          <a:xfrm xmlns:a="http://schemas.openxmlformats.org/drawingml/2006/main">
            <a:off x="540000" y="432000"/>
            <a:ext cx="1080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0F3460"/>
                </a:solidFill>
              </a:rPr>
              <a:t>System Architecture</a:t>
            </a:r>
          </a:p>
        </p:txBody>
      </p:sp>
      <p:sp>
        <p:nvSpPr>
          <p:cNvPr id="100028" name="Divider"/>
          <p:cNvSpPr txBox="1"/>
          <p:nvPr/>
        </p:nvSpPr>
        <p:spPr>
          <a:xfrm xmlns:a="http://schemas.openxmlformats.org/drawingml/2006/main">
            <a:off x="540000" y="1044000"/>
            <a:ext cx="10800000" cy="288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p:txBody>
      </p:sp>
      <p:sp>
        <p:nvSpPr>
          <p:cNvPr id="100029" name="Layer1"/>
          <p:cNvSpPr txBox="1"/>
          <p:nvPr/>
        </p:nvSpPr>
        <p:spPr>
          <a:xfrm xmlns:a="http://schemas.openxmlformats.org/drawingml/2006/main">
            <a:off x="540000" y="1188000"/>
            <a:ext cx="10800000" cy="900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1500" b="0">
                <a:solidFill>
                  <a:srgbClr val="FFFFFF"/>
                </a:solidFill>
              </a:rPr>
              <a:t>PRESENTATION LAYER</a:t>
            </a:r>
          </a:p>
          <a:p xmlns:a="http://schemas.openxmlformats.org/drawingml/2006/main">
            <a:r>
              <a:rPr lang="en-US" sz="1500" b="0">
                <a:solidFill>
                  <a:srgbClr val="FFFFFF"/>
                </a:solidFill>
              </a:rPr>
              <a:t>static/index.html</a:t>
            </a:r>
          </a:p>
          <a:p xmlns:a="http://schemas.openxmlformats.org/drawingml/2006/main">
            <a:r>
              <a:rPr lang="en-US" sz="1500" b="0">
                <a:solidFill>
                  <a:srgbClr val="FFFFFF"/>
                </a:solidFill>
              </a:rPr>
              <a:t>HTML5 + CSS3 + Vanilla JS</a:t>
            </a:r>
          </a:p>
          <a:p xmlns:a="http://schemas.openxmlformats.org/drawingml/2006/main">
            <a:r>
              <a:rPr lang="en-US" sz="1500" b="0">
                <a:solidFill>
                  <a:srgbClr val="FFFFFF"/>
                </a:solidFill>
              </a:rPr>
              <a:t>IBM Carbon Design inspired UI</a:t>
            </a:r>
          </a:p>
        </p:txBody>
      </p:sp>
      <p:sp>
        <p:nvSpPr>
          <p:cNvPr id="100030" name="Arrow1"/>
          <p:cNvSpPr txBox="1"/>
          <p:nvPr/>
        </p:nvSpPr>
        <p:spPr>
          <a:xfrm xmlns:a="http://schemas.openxmlformats.org/drawingml/2006/main">
            <a:off x="5040000" y="2160000"/>
            <a:ext cx="216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200" b="1">
                <a:solidFill>
                  <a:srgbClr val="0F62FE"/>
                </a:solidFill>
              </a:rPr>
              <a:t>HTTP / JSON REST API</a:t>
            </a:r>
          </a:p>
        </p:txBody>
      </p:sp>
      <p:sp>
        <p:nvSpPr>
          <p:cNvPr id="100031" name="Layer2"/>
          <p:cNvSpPr txBox="1"/>
          <p:nvPr/>
        </p:nvSpPr>
        <p:spPr>
          <a:xfrm xmlns:a="http://schemas.openxmlformats.org/drawingml/2006/main">
            <a:off x="540000" y="2484000"/>
            <a:ext cx="10800000" cy="90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500" b="0">
                <a:solidFill>
                  <a:srgbClr val="FFFFFF"/>
                </a:solidFill>
              </a:rPr>
              <a:t>API ORCHESTRATION LAYER</a:t>
            </a:r>
          </a:p>
          <a:p xmlns:a="http://schemas.openxmlformats.org/drawingml/2006/main">
            <a:r>
              <a:rPr lang="en-US" sz="1500" b="0">
                <a:solidFill>
                  <a:srgbClr val="FFFFFF"/>
                </a:solidFill>
              </a:rPr>
              <a:t>app.py  (Flask 3.0)</a:t>
            </a:r>
          </a:p>
          <a:p xmlns:a="http://schemas.openxmlformats.org/drawingml/2006/main">
            <a:r>
              <a:rPr lang="en-US" sz="1500" b="0">
                <a:solidFill>
                  <a:srgbClr val="FFFFFF"/>
                </a:solidFill>
              </a:rPr>
              <a:t>Input Validation + Sanitisation + 6 REST Endpoints</a:t>
            </a:r>
          </a:p>
          <a:p xmlns:a="http://schemas.openxmlformats.org/drawingml/2006/main">
            <a:r>
              <a:rPr lang="en-US" sz="1500" b="0">
                <a:solidFill>
                  <a:srgbClr val="FFFFFF"/>
                </a:solidFill>
              </a:rPr>
              <a:t>Route: /api/generate-plan  /api/query  /api/plans  /health</a:t>
            </a:r>
          </a:p>
        </p:txBody>
      </p:sp>
      <p:sp>
        <p:nvSpPr>
          <p:cNvPr id="100032" name="Arrow2"/>
          <p:cNvSpPr txBox="1"/>
          <p:nvPr/>
        </p:nvSpPr>
        <p:spPr>
          <a:xfrm xmlns:a="http://schemas.openxmlformats.org/drawingml/2006/main">
            <a:off x="5040000" y="3456000"/>
            <a:ext cx="216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200" b="1">
                <a:solidFill>
                  <a:srgbClr val="0F62FE"/>
                </a:solidFill>
              </a:rPr>
              <a:t>Agent call</a:t>
            </a:r>
          </a:p>
        </p:txBody>
      </p:sp>
      <p:sp>
        <p:nvSpPr>
          <p:cNvPr id="100033" name="Layer3"/>
          <p:cNvSpPr txBox="1"/>
          <p:nvPr/>
        </p:nvSpPr>
        <p:spPr>
          <a:xfrm xmlns:a="http://schemas.openxmlformats.org/drawingml/2006/main">
            <a:off x="540000" y="3780000"/>
            <a:ext cx="10800000" cy="900000"/>
          </a:xfrm>
          <a:prstGeom xmlns:a="http://schemas.openxmlformats.org/drawingml/2006/main" prst="rect">
            <a:avLst/>
          </a:prstGeom>
          <a:solidFill xmlns:a="http://schemas.openxmlformats.org/drawingml/2006/main">
            <a:srgbClr val="E8F4FD"/>
          </a:solidFill>
        </p:spPr>
        <p:txBody>
          <a:bodyPr xmlns:a="http://schemas.openxmlformats.org/drawingml/2006/main"/>
          <a:lstStyle xmlns:a="http://schemas.openxmlformats.org/drawingml/2006/main"/>
          <a:p xmlns:a="http://schemas.openxmlformats.org/drawingml/2006/main">
            <a:r>
              <a:rPr lang="en-US" sz="1500" b="0">
                <a:solidFill>
                  <a:srgbClr val="1F2328"/>
                </a:solidFill>
              </a:rPr>
              <a:t>CORE INTELLIGENCE LAYER</a:t>
            </a:r>
          </a:p>
          <a:p xmlns:a="http://schemas.openxmlformats.org/drawingml/2006/main">
            <a:r>
              <a:rPr lang="en-US" sz="1500" b="0">
                <a:solidFill>
                  <a:srgbClr val="1F2328"/>
                </a:solidFill>
              </a:rPr>
              <a:t>agent/granite_agent.py  — GraniteNutritionAgent (ReAct Pattern)</a:t>
            </a:r>
          </a:p>
          <a:p xmlns:a="http://schemas.openxmlformats.org/drawingml/2006/main">
            <a:r>
              <a:rPr lang="en-US" sz="1500" b="0">
                <a:solidFill>
                  <a:srgbClr val="1F2328"/>
                </a:solidFill>
              </a:rPr>
              <a:t>Plan &gt; Build Prompt &gt; Call IBM Granite &gt; Apply Guardrails &gt; Reflect &gt; Output</a:t>
            </a:r>
          </a:p>
        </p:txBody>
      </p:sp>
      <p:sp>
        <p:nvSpPr>
          <p:cNvPr id="100034" name="Arrow3"/>
          <p:cNvSpPr txBox="1"/>
          <p:nvPr/>
        </p:nvSpPr>
        <p:spPr>
          <a:xfrm xmlns:a="http://schemas.openxmlformats.org/drawingml/2006/main">
            <a:off x="5040000" y="4752000"/>
            <a:ext cx="216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200" b="1">
                <a:solidFill>
                  <a:srgbClr val="0F62FE"/>
                </a:solidFill>
              </a:rPr>
              <a:t>watsonx.ai SDK</a:t>
            </a:r>
          </a:p>
        </p:txBody>
      </p:sp>
      <p:sp>
        <p:nvSpPr>
          <p:cNvPr id="100035" name="Layer4"/>
          <p:cNvSpPr txBox="1"/>
          <p:nvPr/>
        </p:nvSpPr>
        <p:spPr>
          <a:xfrm xmlns:a="http://schemas.openxmlformats.org/drawingml/2006/main">
            <a:off x="540000" y="5076000"/>
            <a:ext cx="10800000" cy="720000"/>
          </a:xfrm>
          <a:prstGeom xmlns:a="http://schemas.openxmlformats.org/drawingml/2006/main" prst="rect">
            <a:avLst/>
          </a:prstGeom>
          <a:solidFill xmlns:a="http://schemas.openxmlformats.org/drawingml/2006/main">
            <a:srgbClr val="198038"/>
          </a:solidFill>
        </p:spPr>
        <p:txBody>
          <a:bodyPr xmlns:a="http://schemas.openxmlformats.org/drawingml/2006/main"/>
          <a:lstStyle xmlns:a="http://schemas.openxmlformats.org/drawingml/2006/main"/>
          <a:p xmlns:a="http://schemas.openxmlformats.org/drawingml/2006/main">
            <a:r>
              <a:rPr lang="en-US" sz="1400" b="0">
                <a:solidFill>
                  <a:srgbClr val="FFFFFF"/>
                </a:solidFill>
              </a:rPr>
              <a:t>IBM CLOUD / watsonx.ai</a:t>
            </a:r>
          </a:p>
          <a:p xmlns:a="http://schemas.openxmlformats.org/drawingml/2006/main">
            <a:r>
              <a:rPr lang="en-US" sz="1400" b="0">
                <a:solidFill>
                  <a:srgbClr val="FFFFFF"/>
                </a:solidFill>
              </a:rPr>
              <a:t>ibm/granite-13b-instruct-v2  •  External LLM Service  •  Enterprise-Grade Governed AI</a:t>
            </a:r>
          </a:p>
        </p:txBody>
      </p:sp>
      <p:sp>
        <p:nvSpPr>
          <p:cNvPr id="100036" name="BottomLine"/>
          <p:cNvSpPr txBox="1"/>
          <p:nvPr/>
        </p:nvSpPr>
        <p:spPr>
          <a:xfrm xmlns:a="http://schemas.openxmlformats.org/drawingml/2006/main">
            <a:off x="0" y="6408000"/>
            <a:ext cx="12193200" cy="432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1200">
                <a:solidFill>
                  <a:srgbClr val="FFFFFF"/>
                </a:solidFill>
              </a:rPr>
              <a:t>nutrition_plans/*.md  — Auto-saved Markdown plans  |  GitHub: CreativeCrew2026/NutritionAgent</a:t>
            </a:r>
          </a:p>
        </p:txBody>
      </p:sp>
    </p:spTree>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37" name="TopBar"/>
          <p:cNvSpPr txBox="1"/>
          <p:nvPr/>
        </p:nvSpPr>
        <p:spPr>
          <a:xfrm xmlns:a="http://schemas.openxmlformats.org/drawingml/2006/main">
            <a:off x="0" y="0"/>
            <a:ext cx="12193200" cy="288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100" b="1">
                <a:solidFill>
                  <a:srgbClr val="FFFFFF"/>
                </a:solidFill>
              </a:rPr>
              <a:t>NutriGuide AI  |  Agentic AI Pipeline</a:t>
            </a:r>
          </a:p>
        </p:txBody>
      </p:sp>
      <p:sp>
        <p:nvSpPr>
          <p:cNvPr id="100038" name="Title"/>
          <p:cNvSpPr txBox="1"/>
          <p:nvPr/>
        </p:nvSpPr>
        <p:spPr>
          <a:xfrm xmlns:a="http://schemas.openxmlformats.org/drawingml/2006/main">
            <a:off x="540000" y="432000"/>
            <a:ext cx="1080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400" b="1">
                <a:solidFill>
                  <a:srgbClr val="0F3460"/>
                </a:solidFill>
              </a:rPr>
              <a:t>Agentic AI Pipeline — ReAct Pattern</a:t>
            </a:r>
          </a:p>
        </p:txBody>
      </p:sp>
      <p:sp>
        <p:nvSpPr>
          <p:cNvPr id="100039" name="Divider"/>
          <p:cNvSpPr txBox="1"/>
          <p:nvPr/>
        </p:nvSpPr>
        <p:spPr>
          <a:xfrm xmlns:a="http://schemas.openxmlformats.org/drawingml/2006/main">
            <a:off x="540000" y="1044000"/>
            <a:ext cx="10800000" cy="288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p:txBody>
      </p:sp>
      <p:sp>
        <p:nvSpPr>
          <p:cNvPr id="100040" name="S1"/>
          <p:cNvSpPr txBox="1"/>
          <p:nvPr/>
        </p:nvSpPr>
        <p:spPr>
          <a:xfrm xmlns:a="http://schemas.openxmlformats.org/drawingml/2006/main">
            <a:off x="540000" y="1188000"/>
            <a:ext cx="3240000" cy="1440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1300" b="0">
                <a:solidFill>
                  <a:srgbClr val="FFFFFF"/>
                </a:solidFill>
              </a:rPr>
              <a:t>1. PLAN</a:t>
            </a:r>
          </a:p>
          <a:p xmlns:a="http://schemas.openxmlformats.org/drawingml/2006/main">
            <a:r>
              <a:rPr lang="en-US" sz="1300" b="0">
                <a:solidFill>
                  <a:srgbClr val="FFFFFF"/>
                </a:solidFill>
              </a:rPr>
              <a:t>Analyse user profile</a:t>
            </a:r>
          </a:p>
          <a:p xmlns:a="http://schemas.openxmlformats.org/drawingml/2006/main">
            <a:r>
              <a:rPr lang="en-US" sz="1300" b="0">
                <a:solidFill>
                  <a:srgbClr val="FFFFFF"/>
                </a:solidFill>
              </a:rPr>
              <a:t>Select nutrition strategy</a:t>
            </a:r>
          </a:p>
          <a:p xmlns:a="http://schemas.openxmlformats.org/drawingml/2006/main">
            <a:r>
              <a:rPr lang="en-US" sz="1300" b="0">
                <a:solidFill>
                  <a:srgbClr val="FFFFFF"/>
                </a:solidFill>
              </a:rPr>
              <a:t>Determine medical constraints</a:t>
            </a:r>
          </a:p>
        </p:txBody>
      </p:sp>
      <p:sp>
        <p:nvSpPr>
          <p:cNvPr id="100041" name="S2"/>
          <p:cNvSpPr txBox="1"/>
          <p:nvPr/>
        </p:nvSpPr>
        <p:spPr>
          <a:xfrm xmlns:a="http://schemas.openxmlformats.org/drawingml/2006/main">
            <a:off x="4320000" y="1188000"/>
            <a:ext cx="3240000" cy="144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300" b="0">
                <a:solidFill>
                  <a:srgbClr val="FFFFFF"/>
                </a:solidFill>
              </a:rPr>
              <a:t>2. RETRIEVE</a:t>
            </a:r>
          </a:p>
          <a:p xmlns:a="http://schemas.openxmlformats.org/drawingml/2006/main">
            <a:r>
              <a:rPr lang="en-US" sz="1300" b="0">
                <a:solidFill>
                  <a:srgbClr val="FFFFFF"/>
                </a:solidFill>
              </a:rPr>
              <a:t>Build contextual prompt</a:t>
            </a:r>
          </a:p>
          <a:p xmlns:a="http://schemas.openxmlformats.org/drawingml/2006/main">
            <a:r>
              <a:rPr lang="en-US" sz="1300" b="0">
                <a:solidFill>
                  <a:srgbClr val="FFFFFF"/>
                </a:solidFill>
              </a:rPr>
              <a:t>Inject system instructions</a:t>
            </a:r>
          </a:p>
          <a:p xmlns:a="http://schemas.openxmlformats.org/drawingml/2006/main">
            <a:r>
              <a:rPr lang="en-US" sz="1300" b="0">
                <a:solidFill>
                  <a:srgbClr val="FFFFFF"/>
                </a:solidFill>
              </a:rPr>
              <a:t>Add user data + medical history</a:t>
            </a:r>
          </a:p>
        </p:txBody>
      </p:sp>
      <p:sp>
        <p:nvSpPr>
          <p:cNvPr id="100042" name="S3"/>
          <p:cNvSpPr txBox="1"/>
          <p:nvPr/>
        </p:nvSpPr>
        <p:spPr>
          <a:xfrm xmlns:a="http://schemas.openxmlformats.org/drawingml/2006/main">
            <a:off x="8100000" y="1188000"/>
            <a:ext cx="3240000" cy="1440000"/>
          </a:xfrm>
          <a:prstGeom xmlns:a="http://schemas.openxmlformats.org/drawingml/2006/main" prst="rect">
            <a:avLst/>
          </a:prstGeom>
          <a:solidFill xmlns:a="http://schemas.openxmlformats.org/drawingml/2006/main">
            <a:srgbClr val="E8F4FD"/>
          </a:solidFill>
        </p:spPr>
        <p:txBody>
          <a:bodyPr xmlns:a="http://schemas.openxmlformats.org/drawingml/2006/main"/>
          <a:lstStyle xmlns:a="http://schemas.openxmlformats.org/drawingml/2006/main"/>
          <a:p xmlns:a="http://schemas.openxmlformats.org/drawingml/2006/main">
            <a:r>
              <a:rPr lang="en-US" sz="1300" b="0">
                <a:solidFill>
                  <a:srgbClr val="1F2328"/>
                </a:solidFill>
              </a:rPr>
              <a:t>3. GENERATE</a:t>
            </a:r>
          </a:p>
          <a:p xmlns:a="http://schemas.openxmlformats.org/drawingml/2006/main">
            <a:r>
              <a:rPr lang="en-US" sz="1300" b="0">
                <a:solidFill>
                  <a:srgbClr val="1F2328"/>
                </a:solidFill>
              </a:rPr>
              <a:t>Call IBM Granite 13B</a:t>
            </a:r>
          </a:p>
          <a:p xmlns:a="http://schemas.openxmlformats.org/drawingml/2006/main">
            <a:r>
              <a:rPr lang="en-US" sz="1300" b="0">
                <a:solidFill>
                  <a:srgbClr val="1F2328"/>
                </a:solidFill>
              </a:rPr>
              <a:t>via watsonx.ai SDK</a:t>
            </a:r>
          </a:p>
          <a:p xmlns:a="http://schemas.openxmlformats.org/drawingml/2006/main">
            <a:r>
              <a:rPr lang="en-US" sz="1300" b="0">
                <a:solidFill>
                  <a:srgbClr val="1F2328"/>
                </a:solidFill>
              </a:rPr>
              <a:t>Max 2048 tokens, Temp 0.6</a:t>
            </a:r>
          </a:p>
        </p:txBody>
      </p:sp>
      <p:sp>
        <p:nvSpPr>
          <p:cNvPr id="100043" name="Arrow1"/>
          <p:cNvSpPr txBox="1"/>
          <p:nvPr/>
        </p:nvSpPr>
        <p:spPr>
          <a:xfrm xmlns:a="http://schemas.openxmlformats.org/drawingml/2006/main">
            <a:off x="3852000" y="1728000"/>
            <a:ext cx="396000" cy="3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200" b="1">
                <a:solidFill>
                  <a:srgbClr val="0F62FE"/>
                </a:solidFill>
              </a:rPr>
              <a:t>&gt;</a:t>
            </a:r>
          </a:p>
        </p:txBody>
      </p:sp>
      <p:sp>
        <p:nvSpPr>
          <p:cNvPr id="100044" name="Arrow2"/>
          <p:cNvSpPr txBox="1"/>
          <p:nvPr/>
        </p:nvSpPr>
        <p:spPr>
          <a:xfrm xmlns:a="http://schemas.openxmlformats.org/drawingml/2006/main">
            <a:off x="7632000" y="1728000"/>
            <a:ext cx="396000" cy="3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200" b="1">
                <a:solidFill>
                  <a:srgbClr val="0F62FE"/>
                </a:solidFill>
              </a:rPr>
              <a:t>&gt;</a:t>
            </a:r>
          </a:p>
        </p:txBody>
      </p:sp>
      <p:sp>
        <p:nvSpPr>
          <p:cNvPr id="100045" name="S4"/>
          <p:cNvSpPr txBox="1"/>
          <p:nvPr/>
        </p:nvSpPr>
        <p:spPr>
          <a:xfrm xmlns:a="http://schemas.openxmlformats.org/drawingml/2006/main">
            <a:off x="540000" y="2952000"/>
            <a:ext cx="3240000" cy="1440000"/>
          </a:xfrm>
          <a:prstGeom xmlns:a="http://schemas.openxmlformats.org/drawingml/2006/main" prst="rect">
            <a:avLst/>
          </a:prstGeom>
          <a:solidFill xmlns:a="http://schemas.openxmlformats.org/drawingml/2006/main">
            <a:srgbClr val="DA1E28"/>
          </a:solidFill>
        </p:spPr>
        <p:txBody>
          <a:bodyPr xmlns:a="http://schemas.openxmlformats.org/drawingml/2006/main"/>
          <a:lstStyle xmlns:a="http://schemas.openxmlformats.org/drawingml/2006/main"/>
          <a:p xmlns:a="http://schemas.openxmlformats.org/drawingml/2006/main">
            <a:r>
              <a:rPr lang="en-US" sz="1300" b="0">
                <a:solidFill>
                  <a:srgbClr val="FFFFFF"/>
                </a:solidFill>
              </a:rPr>
              <a:t>4. GUARDRAIL</a:t>
            </a:r>
          </a:p>
          <a:p xmlns:a="http://schemas.openxmlformats.org/drawingml/2006/main">
            <a:r>
              <a:rPr lang="en-US" sz="1300" b="0">
                <a:solidFill>
                  <a:srgbClr val="FFFFFF"/>
                </a:solidFill>
              </a:rPr>
              <a:t>8+ regex patterns scan output</a:t>
            </a:r>
          </a:p>
          <a:p xmlns:a="http://schemas.openxmlformats.org/drawingml/2006/main">
            <a:r>
              <a:rPr lang="en-US" sz="1300" b="0">
                <a:solidFill>
                  <a:srgbClr val="FFFFFF"/>
                </a:solidFill>
              </a:rPr>
              <a:t>Harmful content removed</a:t>
            </a:r>
          </a:p>
          <a:p xmlns:a="http://schemas.openxmlformats.org/drawingml/2006/main">
            <a:r>
              <a:rPr lang="en-US" sz="1300" b="0">
                <a:solidFill>
                  <a:srgbClr val="FFFFFF"/>
                </a:solidFill>
              </a:rPr>
              <a:t>Warnings logged for audit</a:t>
            </a:r>
          </a:p>
        </p:txBody>
      </p:sp>
      <p:sp>
        <p:nvSpPr>
          <p:cNvPr id="100046" name="S5"/>
          <p:cNvSpPr txBox="1"/>
          <p:nvPr/>
        </p:nvSpPr>
        <p:spPr>
          <a:xfrm xmlns:a="http://schemas.openxmlformats.org/drawingml/2006/main">
            <a:off x="4320000" y="2952000"/>
            <a:ext cx="3240000" cy="1440000"/>
          </a:xfrm>
          <a:prstGeom xmlns:a="http://schemas.openxmlformats.org/drawingml/2006/main" prst="rect">
            <a:avLst/>
          </a:prstGeom>
          <a:solidFill xmlns:a="http://schemas.openxmlformats.org/drawingml/2006/main">
            <a:srgbClr val="198038"/>
          </a:solidFill>
        </p:spPr>
        <p:txBody>
          <a:bodyPr xmlns:a="http://schemas.openxmlformats.org/drawingml/2006/main"/>
          <a:lstStyle xmlns:a="http://schemas.openxmlformats.org/drawingml/2006/main"/>
          <a:p xmlns:a="http://schemas.openxmlformats.org/drawingml/2006/main">
            <a:r>
              <a:rPr lang="en-US" sz="1300" b="0">
                <a:solidFill>
                  <a:srgbClr val="FFFFFF"/>
                </a:solidFill>
              </a:rPr>
              <a:t>5. REFLECT</a:t>
            </a:r>
          </a:p>
          <a:p xmlns:a="http://schemas.openxmlformats.org/drawingml/2006/main">
            <a:r>
              <a:rPr lang="en-US" sz="1300" b="0">
                <a:solidFill>
                  <a:srgbClr val="FFFFFF"/>
                </a:solidFill>
              </a:rPr>
              <a:t>Append medical disclaimer</a:t>
            </a:r>
          </a:p>
          <a:p xmlns:a="http://schemas.openxmlformats.org/drawingml/2006/main">
            <a:r>
              <a:rPr lang="en-US" sz="1300" b="0">
                <a:solidFill>
                  <a:srgbClr val="FFFFFF"/>
                </a:solidFill>
              </a:rPr>
              <a:t>Structure final response</a:t>
            </a:r>
          </a:p>
          <a:p xmlns:a="http://schemas.openxmlformats.org/drawingml/2006/main">
            <a:r>
              <a:rPr lang="en-US" sz="1300" b="0">
                <a:solidFill>
                  <a:srgbClr val="FFFFFF"/>
                </a:solidFill>
              </a:rPr>
              <a:t>Build output JSON object</a:t>
            </a:r>
          </a:p>
        </p:txBody>
      </p:sp>
      <p:sp>
        <p:nvSpPr>
          <p:cNvPr id="100047" name="S6"/>
          <p:cNvSpPr txBox="1"/>
          <p:nvPr/>
        </p:nvSpPr>
        <p:spPr>
          <a:xfrm xmlns:a="http://schemas.openxmlformats.org/drawingml/2006/main">
            <a:off x="8100000" y="2952000"/>
            <a:ext cx="3240000" cy="1440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1300" b="0">
                <a:solidFill>
                  <a:srgbClr val="FFFFFF"/>
                </a:solidFill>
              </a:rPr>
              <a:t>6. OUTPUT</a:t>
            </a:r>
          </a:p>
          <a:p xmlns:a="http://schemas.openxmlformats.org/drawingml/2006/main">
            <a:r>
              <a:rPr lang="en-US" sz="1300" b="0">
                <a:solidFill>
                  <a:srgbClr val="FFFFFF"/>
                </a:solidFill>
              </a:rPr>
              <a:t>Return JSON to browser</a:t>
            </a:r>
          </a:p>
          <a:p xmlns:a="http://schemas.openxmlformats.org/drawingml/2006/main">
            <a:r>
              <a:rPr lang="en-US" sz="1300" b="0">
                <a:solidFill>
                  <a:srgbClr val="FFFFFF"/>
                </a:solidFill>
              </a:rPr>
              <a:t>Render Markdown in UI</a:t>
            </a:r>
          </a:p>
          <a:p xmlns:a="http://schemas.openxmlformats.org/drawingml/2006/main">
            <a:r>
              <a:rPr lang="en-US" sz="1300" b="0">
                <a:solidFill>
                  <a:srgbClr val="FFFFFF"/>
                </a:solidFill>
              </a:rPr>
              <a:t>Auto-save as .md file</a:t>
            </a:r>
          </a:p>
        </p:txBody>
      </p:sp>
      <p:sp>
        <p:nvSpPr>
          <p:cNvPr id="100048" name="Arrow3"/>
          <p:cNvSpPr txBox="1"/>
          <p:nvPr/>
        </p:nvSpPr>
        <p:spPr>
          <a:xfrm xmlns:a="http://schemas.openxmlformats.org/drawingml/2006/main">
            <a:off x="3852000" y="3492000"/>
            <a:ext cx="396000" cy="3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200" b="1">
                <a:solidFill>
                  <a:srgbClr val="0F62FE"/>
                </a:solidFill>
              </a:rPr>
              <a:t>&lt;</a:t>
            </a:r>
          </a:p>
        </p:txBody>
      </p:sp>
      <p:sp>
        <p:nvSpPr>
          <p:cNvPr id="100049" name="Arrow4"/>
          <p:cNvSpPr txBox="1"/>
          <p:nvPr/>
        </p:nvSpPr>
        <p:spPr>
          <a:xfrm xmlns:a="http://schemas.openxmlformats.org/drawingml/2006/main">
            <a:off x="7632000" y="3492000"/>
            <a:ext cx="396000" cy="3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200" b="1">
                <a:solidFill>
                  <a:srgbClr val="0F62FE"/>
                </a:solidFill>
              </a:rPr>
              <a:t>&lt;</a:t>
            </a:r>
          </a:p>
        </p:txBody>
      </p:sp>
      <p:sp>
        <p:nvSpPr>
          <p:cNvPr id="100050" name="BottomLine"/>
          <p:cNvSpPr txBox="1"/>
          <p:nvPr/>
        </p:nvSpPr>
        <p:spPr>
          <a:xfrm xmlns:a="http://schemas.openxmlformats.org/drawingml/2006/main">
            <a:off x="0" y="6408000"/>
            <a:ext cx="12193200" cy="432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1100">
                <a:solidFill>
                  <a:srgbClr val="FFFFFF"/>
                </a:solidFill>
              </a:rPr>
              <a:t>granite_agent.py — GraniteNutritionAgent._call_granite()  |  _apply_guardrails()  |  generate_nutrition_plan()</a:t>
            </a:r>
          </a:p>
        </p:txBody>
      </p:sp>
    </p:spTree>
  </p:cSld>
</p:sld>
</file>

<file path=ppt/slides/slide6.xml><?xml version="1.0" encoding="utf-8"?>
<p:sld xmlns:p="http://schemas.openxmlformats.org/presentationml/2006/main">
  <p:cSld>
    <p:bg>
      <p:bgPr>
        <a:solidFill xmlns:a="http://schemas.openxmlformats.org/drawingml/2006/main">
          <a:srgbClr val="0F3460"/>
        </a:solidFill>
      </p:bgPr>
    </p:bg>
    <p:spTree>
      <p:nvGrpSpPr>
        <p:cNvPr id="1" name=""/>
        <p:cNvGrpSpPr/>
        <p:nvPr/>
      </p:nvGrpSpPr>
      <p:grpSpPr/>
      <p:sp>
        <p:nvSpPr>
          <p:cNvPr id="100051" name="TopBar"/>
          <p:cNvSpPr txBox="1"/>
          <p:nvPr/>
        </p:nvSpPr>
        <p:spPr>
          <a:xfrm xmlns:a="http://schemas.openxmlformats.org/drawingml/2006/main">
            <a:off x="0" y="0"/>
            <a:ext cx="12193200" cy="288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100" b="1">
                <a:solidFill>
                  <a:srgbClr val="FFFFFF"/>
                </a:solidFill>
              </a:rPr>
              <a:t>NutriGuide AI  |  Web UI — Screenshot</a:t>
            </a:r>
          </a:p>
        </p:txBody>
      </p:sp>
      <p:sp>
        <p:nvSpPr>
          <p:cNvPr id="100052" name="Title"/>
          <p:cNvSpPr txBox="1"/>
          <p:nvPr/>
        </p:nvSpPr>
        <p:spPr>
          <a:xfrm xmlns:a="http://schemas.openxmlformats.org/drawingml/2006/main">
            <a:off x="540000" y="432000"/>
            <a:ext cx="1080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FFFFFF"/>
                </a:solidFill>
              </a:rPr>
              <a:t>Web Application UI — Main Screen</a:t>
            </a:r>
          </a:p>
        </p:txBody>
      </p:sp>
      <p:sp>
        <p:nvSpPr>
          <p:cNvPr id="100053" name="BrowserFrame"/>
          <p:cNvSpPr txBox="1"/>
          <p:nvPr/>
        </p:nvSpPr>
        <p:spPr>
          <a:xfrm xmlns:a="http://schemas.openxmlformats.org/drawingml/2006/main">
            <a:off x="540000" y="972000"/>
            <a:ext cx="10980000" cy="5220000"/>
          </a:xfrm>
          <a:prstGeom xmlns:a="http://schemas.openxmlformats.org/drawingml/2006/main" prst="rect">
            <a:avLst/>
          </a:prstGeom>
          <a:solidFill xmlns:a="http://schemas.openxmlformats.org/drawingml/2006/main">
            <a:srgbClr val="1E2733"/>
          </a:solidFill>
        </p:spPr>
        <p:txBody>
          <a:bodyPr xmlns:a="http://schemas.openxmlformats.org/drawingml/2006/main"/>
          <a:lstStyle xmlns:a="http://schemas.openxmlformats.org/drawingml/2006/main"/>
          <a:p xmlns:a="http://schemas.openxmlformats.org/drawingml/2006/main">
            <a:endParaRPr lang="en-US" sz="1200">
              <a:solidFill>
                <a:srgbClr val="FFFFFF"/>
              </a:solidFill>
            </a:endParaRPr>
          </a:p>
        </p:txBody>
      </p:sp>
      <p:sp>
        <p:nvSpPr>
          <p:cNvPr id="100054" name="BrowserBar"/>
          <p:cNvSpPr txBox="1"/>
          <p:nvPr/>
        </p:nvSpPr>
        <p:spPr>
          <a:xfrm xmlns:a="http://schemas.openxmlformats.org/drawingml/2006/main">
            <a:off x="540000" y="972000"/>
            <a:ext cx="10980000" cy="252000"/>
          </a:xfrm>
          <a:prstGeom xmlns:a="http://schemas.openxmlformats.org/drawingml/2006/main" prst="rect">
            <a:avLst/>
          </a:prstGeom>
          <a:solidFill xmlns:a="http://schemas.openxmlformats.org/drawingml/2006/main">
            <a:srgbClr val="2D3748"/>
          </a:solidFill>
        </p:spPr>
        <p:txBody>
          <a:bodyPr xmlns:a="http://schemas.openxmlformats.org/drawingml/2006/main"/>
          <a:lstStyle xmlns:a="http://schemas.openxmlformats.org/drawingml/2006/main"/>
          <a:p xmlns:a="http://schemas.openxmlformats.org/drawingml/2006/main">
            <a:r>
              <a:rPr lang="en-US" sz="1100" b="0">
                <a:solidFill>
                  <a:srgbClr val="A0AEC0"/>
                </a:solidFill>
              </a:rPr>
              <a:t>  http://localhost:5000                                                                    NutriGuide AI — Powered by IBM Granite</a:t>
            </a:r>
          </a:p>
        </p:txBody>
      </p:sp>
      <p:sp>
        <p:nvSpPr>
          <p:cNvPr id="100055" name="AppHeader"/>
          <p:cNvSpPr txBox="1"/>
          <p:nvPr/>
        </p:nvSpPr>
        <p:spPr>
          <a:xfrm xmlns:a="http://schemas.openxmlformats.org/drawingml/2006/main">
            <a:off x="540000" y="1224000"/>
            <a:ext cx="10980000" cy="252000"/>
          </a:xfrm>
          <a:prstGeom xmlns:a="http://schemas.openxmlformats.org/drawingml/2006/main" prst="rect">
            <a:avLst/>
          </a:prstGeom>
          <a:solidFill xmlns:a="http://schemas.openxmlformats.org/drawingml/2006/main">
            <a:srgbClr val="161616"/>
          </a:solidFill>
        </p:spPr>
        <p:txBody>
          <a:bodyPr xmlns:a="http://schemas.openxmlformats.org/drawingml/2006/main"/>
          <a:lstStyle xmlns:a="http://schemas.openxmlformats.org/drawingml/2006/main"/>
          <a:p xmlns:a="http://schemas.openxmlformats.org/drawingml/2006/main">
            <a:r>
              <a:rPr lang="en-US" sz="1200" b="1">
                <a:solidFill>
                  <a:srgbClr val="FFFFFF"/>
                </a:solidFill>
              </a:rPr>
              <a:t>  🥗  NutriGuide AI   [IBM Granite]                                                  ● Connected — IBM Granite Live</a:t>
            </a:r>
          </a:p>
        </p:txBody>
      </p:sp>
      <p:sp>
        <p:nvSpPr>
          <p:cNvPr id="100056" name="SideForm"/>
          <p:cNvSpPr txBox="1"/>
          <p:nvPr/>
        </p:nvSpPr>
        <p:spPr>
          <a:xfrm xmlns:a="http://schemas.openxmlformats.org/drawingml/2006/main">
            <a:off x="612000" y="1512000"/>
            <a:ext cx="3420000" cy="4572000"/>
          </a:xfrm>
          <a:prstGeom xmlns:a="http://schemas.openxmlformats.org/drawingml/2006/main" prst="rect">
            <a:avLst/>
          </a:prstGeom>
          <a:solidFill xmlns:a="http://schemas.openxmlformats.org/drawingml/2006/main">
            <a:srgbClr val="1A2332"/>
          </a:solidFill>
        </p:spPr>
        <p:txBody>
          <a:bodyPr xmlns:a="http://schemas.openxmlformats.org/drawingml/2006/main"/>
          <a:lstStyle xmlns:a="http://schemas.openxmlformats.org/drawingml/2006/main"/>
          <a:p xmlns:a="http://schemas.openxmlformats.org/drawingml/2006/main">
            <a:r>
              <a:rPr lang="en-US" sz="900" b="0">
                <a:solidFill>
                  <a:srgbClr val="F0F0F0"/>
                </a:solidFill>
              </a:rPr>
              <a:t>👤 YOUR PROFILE</a:t>
            </a:r>
          </a:p>
          <a:p xmlns:a="http://schemas.openxmlformats.org/drawingml/2006/main">
            <a:r>
              <a:rPr lang="en-US" sz="900" b="0">
                <a:solidFill>
                  <a:srgbClr val="F0F0F0"/>
                </a:solidFill>
              </a:rPr>
              <a:t/>
            </a:r>
          </a:p>
          <a:p xmlns:a="http://schemas.openxmlformats.org/drawingml/2006/main">
            <a:r>
              <a:rPr lang="en-US" sz="900" b="0">
                <a:solidFill>
                  <a:srgbClr val="F0F0F0"/>
                </a:solidFill>
              </a:rPr>
              <a:t>Full Name *</a:t>
            </a:r>
          </a:p>
          <a:p xmlns:a="http://schemas.openxmlformats.org/drawingml/2006/main">
            <a:r>
              <a:rPr lang="en-US" sz="900" b="0">
                <a:solidFill>
                  <a:srgbClr val="F0F0F0"/>
                </a:solidFill>
              </a:rPr>
              <a:t>[ Priya Sharma          ]</a:t>
            </a:r>
          </a:p>
          <a:p xmlns:a="http://schemas.openxmlformats.org/drawingml/2006/main">
            <a:r>
              <a:rPr lang="en-US" sz="900" b="0">
                <a:solidFill>
                  <a:srgbClr val="F0F0F0"/>
                </a:solidFill>
              </a:rPr>
              <a:t/>
            </a:r>
          </a:p>
          <a:p xmlns:a="http://schemas.openxmlformats.org/drawingml/2006/main">
            <a:r>
              <a:rPr lang="en-US" sz="900" b="0">
                <a:solidFill>
                  <a:srgbClr val="F0F0F0"/>
                </a:solidFill>
              </a:rPr>
              <a:t>Age *        Weight (kg)</a:t>
            </a:r>
          </a:p>
          <a:p xmlns:a="http://schemas.openxmlformats.org/drawingml/2006/main">
            <a:r>
              <a:rPr lang="en-US" sz="900" b="0">
                <a:solidFill>
                  <a:srgbClr val="F0F0F0"/>
                </a:solidFill>
              </a:rPr>
              <a:t>[ 35     ]   [ 68      ]</a:t>
            </a:r>
          </a:p>
          <a:p xmlns:a="http://schemas.openxmlformats.org/drawingml/2006/main">
            <a:r>
              <a:rPr lang="en-US" sz="900" b="0">
                <a:solidFill>
                  <a:srgbClr val="F0F0F0"/>
                </a:solidFill>
              </a:rPr>
              <a:t/>
            </a:r>
          </a:p>
          <a:p xmlns:a="http://schemas.openxmlformats.org/drawingml/2006/main">
            <a:r>
              <a:rPr lang="en-US" sz="900" b="0">
                <a:solidFill>
                  <a:srgbClr val="F0F0F0"/>
                </a:solidFill>
              </a:rPr>
              <a:t>City              Country</a:t>
            </a:r>
          </a:p>
          <a:p xmlns:a="http://schemas.openxmlformats.org/drawingml/2006/main">
            <a:r>
              <a:rPr lang="en-US" sz="900" b="0">
                <a:solidFill>
                  <a:srgbClr val="F0F0F0"/>
                </a:solidFill>
              </a:rPr>
              <a:t>[ Mumbai   ]  [ India  ]</a:t>
            </a:r>
          </a:p>
          <a:p xmlns:a="http://schemas.openxmlformats.org/drawingml/2006/main">
            <a:r>
              <a:rPr lang="en-US" sz="900" b="0">
                <a:solidFill>
                  <a:srgbClr val="F0F0F0"/>
                </a:solidFill>
              </a:rPr>
              <a:t/>
            </a:r>
          </a:p>
          <a:p xmlns:a="http://schemas.openxmlformats.org/drawingml/2006/main">
            <a:r>
              <a:rPr lang="en-US" sz="900" b="0">
                <a:solidFill>
                  <a:srgbClr val="F0F0F0"/>
                </a:solidFill>
              </a:rPr>
              <a:t>Diet Preference</a:t>
            </a:r>
          </a:p>
          <a:p xmlns:a="http://schemas.openxmlformats.org/drawingml/2006/main">
            <a:r>
              <a:rPr lang="en-US" sz="900" b="0">
                <a:solidFill>
                  <a:srgbClr val="F0F0F0"/>
                </a:solidFill>
              </a:rPr>
              <a:t>[🌱 Vegetarian  ] [🥦 Vegan]</a:t>
            </a:r>
          </a:p>
          <a:p xmlns:a="http://schemas.openxmlformats.org/drawingml/2006/main">
            <a:r>
              <a:rPr lang="en-US" sz="900" b="0">
                <a:solidFill>
                  <a:srgbClr val="F0F0F0"/>
                </a:solidFill>
              </a:rPr>
              <a:t>[🍗 Non-Veg    ] [🥗 Flexi ]</a:t>
            </a:r>
          </a:p>
          <a:p xmlns:a="http://schemas.openxmlformats.org/drawingml/2006/main">
            <a:r>
              <a:rPr lang="en-US" sz="900" b="0">
                <a:solidFill>
                  <a:srgbClr val="F0F0F0"/>
                </a:solidFill>
              </a:rPr>
              <a:t/>
            </a:r>
          </a:p>
          <a:p xmlns:a="http://schemas.openxmlformats.org/drawingml/2006/main">
            <a:r>
              <a:rPr lang="en-US" sz="900" b="0">
                <a:solidFill>
                  <a:srgbClr val="F0F0F0"/>
                </a:solidFill>
              </a:rPr>
              <a:t>Health Goal</a:t>
            </a:r>
          </a:p>
          <a:p xmlns:a="http://schemas.openxmlformats.org/drawingml/2006/main">
            <a:r>
              <a:rPr lang="en-US" sz="900" b="0">
                <a:solidFill>
                  <a:srgbClr val="F0F0F0"/>
                </a:solidFill>
              </a:rPr>
              <a:t>[ Manage Diabetes      ▼]</a:t>
            </a:r>
          </a:p>
          <a:p xmlns:a="http://schemas.openxmlformats.org/drawingml/2006/main">
            <a:r>
              <a:rPr lang="en-US" sz="900" b="0">
                <a:solidFill>
                  <a:srgbClr val="F0F0F0"/>
                </a:solidFill>
              </a:rPr>
              <a:t/>
            </a:r>
          </a:p>
          <a:p xmlns:a="http://schemas.openxmlformats.org/drawingml/2006/main">
            <a:r>
              <a:rPr lang="en-US" sz="900" b="0">
                <a:solidFill>
                  <a:srgbClr val="F0F0F0"/>
                </a:solidFill>
              </a:rPr>
              <a:t>Medical History</a:t>
            </a:r>
          </a:p>
          <a:p xmlns:a="http://schemas.openxmlformats.org/drawingml/2006/main">
            <a:r>
              <a:rPr lang="en-US" sz="900" b="0">
                <a:solidFill>
                  <a:srgbClr val="F0F0F0"/>
                </a:solidFill>
              </a:rPr>
              <a:t>[ Type 2 Diabetes,        ]</a:t>
            </a:r>
          </a:p>
          <a:p xmlns:a="http://schemas.openxmlformats.org/drawingml/2006/main">
            <a:r>
              <a:rPr lang="en-US" sz="900" b="0">
                <a:solidFill>
                  <a:srgbClr val="F0F0F0"/>
                </a:solidFill>
              </a:rPr>
              <a:t>[ Hypertension            ]</a:t>
            </a:r>
          </a:p>
          <a:p xmlns:a="http://schemas.openxmlformats.org/drawingml/2006/main">
            <a:r>
              <a:rPr lang="en-US" sz="900" b="0">
                <a:solidFill>
                  <a:srgbClr val="F0F0F0"/>
                </a:solidFill>
              </a:rPr>
              <a:t/>
            </a:r>
          </a:p>
          <a:p xmlns:a="http://schemas.openxmlformats.org/drawingml/2006/main">
            <a:r>
              <a:rPr lang="en-US" sz="900" b="0">
                <a:solidFill>
                  <a:srgbClr val="F0F0F0"/>
                </a:solidFill>
              </a:rPr>
              <a:t>[✨ Generate My Plan]</a:t>
            </a:r>
          </a:p>
        </p:txBody>
      </p:sp>
      <p:sp>
        <p:nvSpPr>
          <p:cNvPr id="100057" name="TabBar"/>
          <p:cNvSpPr txBox="1"/>
          <p:nvPr/>
        </p:nvSpPr>
        <p:spPr>
          <a:xfrm xmlns:a="http://schemas.openxmlformats.org/drawingml/2006/main">
            <a:off x="4320000" y="1512000"/>
            <a:ext cx="7020000" cy="252000"/>
          </a:xfrm>
          <a:prstGeom xmlns:a="http://schemas.openxmlformats.org/drawingml/2006/main" prst="rect">
            <a:avLst/>
          </a:prstGeom>
          <a:solidFill xmlns:a="http://schemas.openxmlformats.org/drawingml/2006/main">
            <a:srgbClr val="2D3748"/>
          </a:solidFill>
        </p:spPr>
        <p:txBody>
          <a:bodyPr xmlns:a="http://schemas.openxmlformats.org/drawingml/2006/main"/>
          <a:lstStyle xmlns:a="http://schemas.openxmlformats.org/drawingml/2006/main"/>
          <a:p xmlns:a="http://schemas.openxmlformats.org/drawingml/2006/main">
            <a:r>
              <a:rPr lang="en-US" sz="1200" b="1">
                <a:solidFill>
                  <a:srgbClr val="78B9FF"/>
                </a:solidFill>
              </a:rPr>
              <a:t>  📋 Nutrition Plan     💬 Ask NutriGuide     📁 Saved Plans</a:t>
            </a:r>
          </a:p>
        </p:txBody>
      </p:sp>
      <p:sp>
        <p:nvSpPr>
          <p:cNvPr id="100058" name="PlanOutput"/>
          <p:cNvSpPr txBox="1"/>
          <p:nvPr/>
        </p:nvSpPr>
        <p:spPr>
          <a:xfrm xmlns:a="http://schemas.openxmlformats.org/drawingml/2006/main">
            <a:off x="4320000" y="1800000"/>
            <a:ext cx="7020000" cy="4248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900" b="0">
                <a:solidFill>
                  <a:srgbClr val="E8E8E8"/>
                </a:solidFill>
              </a:rPr>
              <a:t>[IBM Granite] Generated by IBM Granite LLM on 2025-07-15 10:30:00</a:t>
            </a:r>
          </a:p>
          <a:p xmlns:a="http://schemas.openxmlformats.org/drawingml/2006/main">
            <a:r>
              <a:rPr lang="en-US" sz="900" b="0">
                <a:solidFill>
                  <a:srgbClr val="E8E8E8"/>
                </a:solidFill>
              </a:rPr>
              <a:t/>
            </a:r>
          </a:p>
          <a:p xmlns:a="http://schemas.openxmlformats.org/drawingml/2006/main">
            <a:r>
              <a:rPr lang="en-US" sz="900" b="0">
                <a:solidFill>
                  <a:srgbClr val="E8E8E8"/>
                </a:solidFill>
              </a:rPr>
              <a:t>🥗 Personalised Nutrition Plan</a:t>
            </a:r>
          </a:p>
          <a:p xmlns:a="http://schemas.openxmlformats.org/drawingml/2006/main">
            <a:r>
              <a:rPr lang="en-US" sz="900" b="0">
                <a:solidFill>
                  <a:srgbClr val="E8E8E8"/>
                </a:solidFill>
              </a:rPr>
              <a:t>Generated by NutriGuide — IBM Granite AI</a:t>
            </a:r>
          </a:p>
          <a:p xmlns:a="http://schemas.openxmlformats.org/drawingml/2006/main">
            <a:r>
              <a:rPr lang="en-US" sz="900" b="0">
                <a:solidFill>
                  <a:srgbClr val="E8E8E8"/>
                </a:solidFill>
              </a:rPr>
              <a:t/>
            </a:r>
          </a:p>
          <a:p xmlns:a="http://schemas.openxmlformats.org/drawingml/2006/main">
            <a:r>
              <a:rPr lang="en-US" sz="900" b="0">
                <a:solidFill>
                  <a:srgbClr val="E8E8E8"/>
                </a:solidFill>
              </a:rPr>
              <a:t>📊 Nutritional Assessment</a:t>
            </a:r>
          </a:p>
          <a:p xmlns:a="http://schemas.openxmlformats.org/drawingml/2006/main">
            <a:r>
              <a:rPr lang="en-US" sz="900" b="0">
                <a:solidFill>
                  <a:srgbClr val="E8E8E8"/>
                </a:solidFill>
              </a:rPr>
              <a:t>Based on your profile as a 35-year-old vegetarian in Mumbai</a:t>
            </a:r>
          </a:p>
          <a:p xmlns:a="http://schemas.openxmlformats.org/drawingml/2006/main">
            <a:r>
              <a:rPr lang="en-US" sz="900" b="0">
                <a:solidFill>
                  <a:srgbClr val="E8E8E8"/>
                </a:solidFill>
              </a:rPr>
              <a:t>managing Type 2 Diabetes, your dietary plan prioritises low</a:t>
            </a:r>
          </a:p>
          <a:p xmlns:a="http://schemas.openxmlformats.org/drawingml/2006/main">
            <a:r>
              <a:rPr lang="en-US" sz="900" b="0">
                <a:solidFill>
                  <a:srgbClr val="E8E8E8"/>
                </a:solidFill>
              </a:rPr>
              <a:t>glycaemic index (GI) foods and adequate fibre...</a:t>
            </a:r>
          </a:p>
          <a:p xmlns:a="http://schemas.openxmlformats.org/drawingml/2006/main">
            <a:r>
              <a:rPr lang="en-US" sz="900" b="0">
                <a:solidFill>
                  <a:srgbClr val="E8E8E8"/>
                </a:solidFill>
              </a:rPr>
              <a:t/>
            </a:r>
          </a:p>
          <a:p xmlns:a="http://schemas.openxmlformats.org/drawingml/2006/main">
            <a:r>
              <a:rPr lang="en-US" sz="900" b="0">
                <a:solidFill>
                  <a:srgbClr val="E8E8E8"/>
                </a:solidFill>
              </a:rPr>
              <a:t>🎯 Daily Calorie &amp; Macronutrient Target</a:t>
            </a:r>
          </a:p>
          <a:p xmlns:a="http://schemas.openxmlformats.org/drawingml/2006/main">
            <a:r>
              <a:rPr lang="en-US" sz="900" b="0">
                <a:solidFill>
                  <a:srgbClr val="E8E8E8"/>
                </a:solidFill>
              </a:rPr>
              <a:t>  Calories:       1,600 – 1,800 kcal</a:t>
            </a:r>
          </a:p>
          <a:p xmlns:a="http://schemas.openxmlformats.org/drawingml/2006/main">
            <a:r>
              <a:rPr lang="en-US" sz="900" b="0">
                <a:solidFill>
                  <a:srgbClr val="E8E8E8"/>
                </a:solidFill>
              </a:rPr>
              <a:t>  Protein:        70–85 g  (18–20%)</a:t>
            </a:r>
          </a:p>
          <a:p xmlns:a="http://schemas.openxmlformats.org/drawingml/2006/main">
            <a:r>
              <a:rPr lang="en-US" sz="900" b="0">
                <a:solidFill>
                  <a:srgbClr val="E8E8E8"/>
                </a:solidFill>
              </a:rPr>
              <a:t>  Carbohydrates:  180–200 g (45–50%)</a:t>
            </a:r>
          </a:p>
          <a:p xmlns:a="http://schemas.openxmlformats.org/drawingml/2006/main">
            <a:r>
              <a:rPr lang="en-US" sz="900" b="0">
                <a:solidFill>
                  <a:srgbClr val="E8E8E8"/>
                </a:solidFill>
              </a:rPr>
              <a:t>  Healthy Fats:   50–60 g  (28–30%)</a:t>
            </a:r>
          </a:p>
          <a:p xmlns:a="http://schemas.openxmlformats.org/drawingml/2006/main">
            <a:r>
              <a:rPr lang="en-US" sz="900" b="0">
                <a:solidFill>
                  <a:srgbClr val="E8E8E8"/>
                </a:solidFill>
              </a:rPr>
              <a:t>  Fibre:          30–35 g</a:t>
            </a:r>
          </a:p>
          <a:p xmlns:a="http://schemas.openxmlformats.org/drawingml/2006/main">
            <a:r>
              <a:rPr lang="en-US" sz="900" b="0">
                <a:solidFill>
                  <a:srgbClr val="E8E8E8"/>
                </a:solidFill>
              </a:rPr>
              <a:t/>
            </a:r>
          </a:p>
          <a:p xmlns:a="http://schemas.openxmlformats.org/drawingml/2006/main">
            <a:r>
              <a:rPr lang="en-US" sz="900" b="0">
                <a:solidFill>
                  <a:srgbClr val="E8E8E8"/>
                </a:solidFill>
              </a:rPr>
              <a:t>📅 7-Day Meal Plan</a:t>
            </a:r>
          </a:p>
          <a:p xmlns:a="http://schemas.openxmlformats.org/drawingml/2006/main">
            <a:r>
              <a:rPr lang="en-US" sz="900" b="0">
                <a:solidFill>
                  <a:srgbClr val="E8E8E8"/>
                </a:solidFill>
              </a:rPr>
              <a:t>Day 1 — Monday</a:t>
            </a:r>
          </a:p>
          <a:p xmlns:a="http://schemas.openxmlformats.org/drawingml/2006/main">
            <a:r>
              <a:rPr lang="en-US" sz="900" b="0">
                <a:solidFill>
                  <a:srgbClr val="E8E8E8"/>
                </a:solidFill>
              </a:rPr>
              <a:t>  Breakfast: Steel-cut oats + berries + green tea (~380 kcal)</a:t>
            </a:r>
          </a:p>
          <a:p xmlns:a="http://schemas.openxmlformats.org/drawingml/2006/main">
            <a:r>
              <a:rPr lang="en-US" sz="900" b="0">
                <a:solidFill>
                  <a:srgbClr val="E8E8E8"/>
                </a:solidFill>
              </a:rPr>
              <a:t>  Lunch: Brown rice + moong dal + methi sabzi (~520 kcal)</a:t>
            </a:r>
          </a:p>
          <a:p xmlns:a="http://schemas.openxmlformats.org/drawingml/2006/main">
            <a:r>
              <a:rPr lang="en-US" sz="900" b="0">
                <a:solidFill>
                  <a:srgbClr val="E8E8E8"/>
                </a:solidFill>
              </a:rPr>
              <a:t>  Snack: Apple + 10 almonds (~140 kcal)</a:t>
            </a:r>
          </a:p>
          <a:p xmlns:a="http://schemas.openxmlformats.org/drawingml/2006/main">
            <a:r>
              <a:rPr lang="en-US" sz="900" b="0">
                <a:solidFill>
                  <a:srgbClr val="E8E8E8"/>
                </a:solidFill>
              </a:rPr>
              <a:t>  Dinner: Paneer tikka + steamed broccoli (~480 kcal)</a:t>
            </a:r>
          </a:p>
          <a:p xmlns:a="http://schemas.openxmlformats.org/drawingml/2006/main">
            <a:r>
              <a:rPr lang="en-US" sz="900" b="0">
                <a:solidFill>
                  <a:srgbClr val="E8E8E8"/>
                </a:solidFill>
              </a:rPr>
              <a:t/>
            </a:r>
          </a:p>
          <a:p xmlns:a="http://schemas.openxmlformats.org/drawingml/2006/main">
            <a:r>
              <a:rPr lang="en-US" sz="900" b="0">
                <a:solidFill>
                  <a:srgbClr val="E8E8E8"/>
                </a:solidFill>
              </a:rPr>
              <a:t>[📋 Copy]   [⬇️ Download .md]</a:t>
            </a:r>
          </a:p>
        </p:txBody>
      </p:sp>
      <p:sp>
        <p:nvSpPr>
          <p:cNvPr id="100059" name="BottomLine"/>
          <p:cNvSpPr txBox="1"/>
          <p:nvPr/>
        </p:nvSpPr>
        <p:spPr>
          <a:xfrm xmlns:a="http://schemas.openxmlformats.org/drawingml/2006/main">
            <a:off x="0" y="6408000"/>
            <a:ext cx="12193200" cy="432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200">
                <a:solidFill>
                  <a:srgbClr val="FFFFFF"/>
                </a:solidFill>
              </a:rPr>
              <a:t>Flask Backend  |  IBM Granite LLM  |  Real-time plan generation  |  Auto-save to .md</a:t>
            </a:r>
          </a:p>
        </p:txBody>
      </p:sp>
    </p:spTree>
  </p:cSld>
</p:sld>
</file>

<file path=ppt/slides/slide7.xml><?xml version="1.0" encoding="utf-8"?>
<p:sld xmlns:p="http://schemas.openxmlformats.org/presentationml/2006/main">
  <p:cSld>
    <p:bg>
      <p:bgPr>
        <a:solidFill xmlns:a="http://schemas.openxmlformats.org/drawingml/2006/main">
          <a:srgbClr val="0F3460"/>
        </a:solidFill>
      </p:bgPr>
    </p:bg>
    <p:spTree>
      <p:nvGrpSpPr>
        <p:cNvPr id="1" name=""/>
        <p:cNvGrpSpPr/>
        <p:nvPr/>
      </p:nvGrpSpPr>
      <p:grpSpPr/>
      <p:sp>
        <p:nvSpPr>
          <p:cNvPr id="100060" name="TopBar"/>
          <p:cNvSpPr txBox="1"/>
          <p:nvPr/>
        </p:nvSpPr>
        <p:spPr>
          <a:xfrm xmlns:a="http://schemas.openxmlformats.org/drawingml/2006/main">
            <a:off x="0" y="0"/>
            <a:ext cx="12193200" cy="288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100" b="1">
                <a:solidFill>
                  <a:srgbClr val="FFFFFF"/>
                </a:solidFill>
              </a:rPr>
              <a:t>NutriGuide AI  |  AI Chat Interface</a:t>
            </a:r>
          </a:p>
        </p:txBody>
      </p:sp>
      <p:sp>
        <p:nvSpPr>
          <p:cNvPr id="100061" name="Title"/>
          <p:cNvSpPr txBox="1"/>
          <p:nvPr/>
        </p:nvSpPr>
        <p:spPr>
          <a:xfrm xmlns:a="http://schemas.openxmlformats.org/drawingml/2006/main">
            <a:off x="540000" y="432000"/>
            <a:ext cx="1080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FFFFFF"/>
                </a:solidFill>
              </a:rPr>
              <a:t>AI Chat Interface — Ask NutriGuide</a:t>
            </a:r>
          </a:p>
        </p:txBody>
      </p:sp>
      <p:sp>
        <p:nvSpPr>
          <p:cNvPr id="100062" name="BrowserFrame"/>
          <p:cNvSpPr txBox="1"/>
          <p:nvPr/>
        </p:nvSpPr>
        <p:spPr>
          <a:xfrm xmlns:a="http://schemas.openxmlformats.org/drawingml/2006/main">
            <a:off x="540000" y="972000"/>
            <a:ext cx="10980000" cy="5220000"/>
          </a:xfrm>
          <a:prstGeom xmlns:a="http://schemas.openxmlformats.org/drawingml/2006/main" prst="rect">
            <a:avLst/>
          </a:prstGeom>
          <a:solidFill xmlns:a="http://schemas.openxmlformats.org/drawingml/2006/main">
            <a:srgbClr val="1E2733"/>
          </a:solidFill>
        </p:spPr>
        <p:txBody>
          <a:bodyPr xmlns:a="http://schemas.openxmlformats.org/drawingml/2006/main"/>
          <a:lstStyle xmlns:a="http://schemas.openxmlformats.org/drawingml/2006/main"/>
          <a:p xmlns:a="http://schemas.openxmlformats.org/drawingml/2006/main">
            <a:endParaRPr lang="en-US" sz="1200">
              <a:solidFill>
                <a:srgbClr val="FFFFFF"/>
              </a:solidFill>
            </a:endParaRPr>
          </a:p>
        </p:txBody>
      </p:sp>
      <p:sp>
        <p:nvSpPr>
          <p:cNvPr id="100063" name="BrowserBar"/>
          <p:cNvSpPr txBox="1"/>
          <p:nvPr/>
        </p:nvSpPr>
        <p:spPr>
          <a:xfrm xmlns:a="http://schemas.openxmlformats.org/drawingml/2006/main">
            <a:off x="540000" y="972000"/>
            <a:ext cx="10980000" cy="252000"/>
          </a:xfrm>
          <a:prstGeom xmlns:a="http://schemas.openxmlformats.org/drawingml/2006/main" prst="rect">
            <a:avLst/>
          </a:prstGeom>
          <a:solidFill xmlns:a="http://schemas.openxmlformats.org/drawingml/2006/main">
            <a:srgbClr val="2D3748"/>
          </a:solidFill>
        </p:spPr>
        <p:txBody>
          <a:bodyPr xmlns:a="http://schemas.openxmlformats.org/drawingml/2006/main"/>
          <a:lstStyle xmlns:a="http://schemas.openxmlformats.org/drawingml/2006/main"/>
          <a:p xmlns:a="http://schemas.openxmlformats.org/drawingml/2006/main">
            <a:r>
              <a:rPr lang="en-US" sz="1100" b="0">
                <a:solidFill>
                  <a:srgbClr val="A0AEC0"/>
                </a:solidFill>
              </a:rPr>
              <a:t>  http://localhost:5000  — 💬 Ask NutriGuide Tab Active</a:t>
            </a:r>
          </a:p>
        </p:txBody>
      </p:sp>
      <p:sp>
        <p:nvSpPr>
          <p:cNvPr id="100064" name="AppHeader"/>
          <p:cNvSpPr txBox="1"/>
          <p:nvPr/>
        </p:nvSpPr>
        <p:spPr>
          <a:xfrm xmlns:a="http://schemas.openxmlformats.org/drawingml/2006/main">
            <a:off x="540000" y="1224000"/>
            <a:ext cx="10980000" cy="252000"/>
          </a:xfrm>
          <a:prstGeom xmlns:a="http://schemas.openxmlformats.org/drawingml/2006/main" prst="rect">
            <a:avLst/>
          </a:prstGeom>
          <a:solidFill xmlns:a="http://schemas.openxmlformats.org/drawingml/2006/main">
            <a:srgbClr val="161616"/>
          </a:solidFill>
        </p:spPr>
        <p:txBody>
          <a:bodyPr xmlns:a="http://schemas.openxmlformats.org/drawingml/2006/main"/>
          <a:lstStyle xmlns:a="http://schemas.openxmlformats.org/drawingml/2006/main"/>
          <a:p xmlns:a="http://schemas.openxmlformats.org/drawingml/2006/main">
            <a:r>
              <a:rPr lang="en-US" sz="1200" b="1">
                <a:solidFill>
                  <a:srgbClr val="FFFFFF"/>
                </a:solidFill>
              </a:rPr>
              <a:t>  🥗  NutriGuide AI   [IBM Granite]                                                  ● Connected — IBM Granite Live</a:t>
            </a:r>
          </a:p>
        </p:txBody>
      </p:sp>
      <p:sp>
        <p:nvSpPr>
          <p:cNvPr id="100065" name="ChatBox"/>
          <p:cNvSpPr txBox="1"/>
          <p:nvPr/>
        </p:nvSpPr>
        <p:spPr>
          <a:xfrm xmlns:a="http://schemas.openxmlformats.org/drawingml/2006/main">
            <a:off x="4320000" y="1512000"/>
            <a:ext cx="7020000" cy="4608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900" b="0">
                <a:solidFill>
                  <a:srgbClr val="E8E8E8"/>
                </a:solidFill>
              </a:rPr>
              <a:t>💬 Chat with NutriGuide                                                     [🗑️ Clear]</a:t>
            </a:r>
          </a:p>
          <a:p xmlns:a="http://schemas.openxmlformats.org/drawingml/2006/main">
            <a:r>
              <a:rPr lang="en-US" sz="900" b="0">
                <a:solidFill>
                  <a:srgbClr val="E8E8E8"/>
                </a:solidFill>
              </a:rPr>
              <a:t/>
            </a:r>
          </a:p>
          <a:p xmlns:a="http://schemas.openxmlformats.org/drawingml/2006/main">
            <a:r>
              <a:rPr lang="en-US" sz="900" b="0">
                <a:solidFill>
                  <a:srgbClr val="E8E8E8"/>
                </a:solidFill>
              </a:rPr>
              <a:t>🤖  Hello! I'm NutriGuide, your IBM Granite AI nutrition</a:t>
            </a:r>
          </a:p>
          <a:p xmlns:a="http://schemas.openxmlformats.org/drawingml/2006/main">
            <a:r>
              <a:rPr lang="en-US" sz="900" b="0">
                <a:solidFill>
                  <a:srgbClr val="E8E8E8"/>
                </a:solidFill>
              </a:rPr>
              <a:t>    assistant. Ask me anything about nutrition, healthy</a:t>
            </a:r>
          </a:p>
          <a:p xmlns:a="http://schemas.openxmlformats.org/drawingml/2006/main">
            <a:r>
              <a:rPr lang="en-US" sz="900" b="0">
                <a:solidFill>
                  <a:srgbClr val="E8E8E8"/>
                </a:solidFill>
              </a:rPr>
              <a:t>    eating, or meal planning! 🥗</a:t>
            </a:r>
          </a:p>
          <a:p xmlns:a="http://schemas.openxmlformats.org/drawingml/2006/main">
            <a:r>
              <a:rPr lang="en-US" sz="900" b="0">
                <a:solidFill>
                  <a:srgbClr val="E8E8E8"/>
                </a:solidFill>
              </a:rPr>
              <a:t/>
            </a:r>
          </a:p>
          <a:p xmlns:a="http://schemas.openxmlformats.org/drawingml/2006/main">
            <a:r>
              <a:rPr lang="en-US" sz="900" b="0">
                <a:solidFill>
                  <a:srgbClr val="E8E8E8"/>
                </a:solidFill>
              </a:rPr>
              <a:t>                  What are the best foods for diabetes?  👤</a:t>
            </a:r>
          </a:p>
          <a:p xmlns:a="http://schemas.openxmlformats.org/drawingml/2006/main">
            <a:r>
              <a:rPr lang="en-US" sz="900" b="0">
                <a:solidFill>
                  <a:srgbClr val="E8E8E8"/>
                </a:solidFill>
              </a:rPr>
              <a:t/>
            </a:r>
          </a:p>
          <a:p xmlns:a="http://schemas.openxmlformats.org/drawingml/2006/main">
            <a:r>
              <a:rPr lang="en-US" sz="900" b="0">
                <a:solidFill>
                  <a:srgbClr val="E8E8E8"/>
                </a:solidFill>
              </a:rPr>
              <a:t>🤖  Great question! For managing Type 2 Diabetes,</a:t>
            </a:r>
          </a:p>
          <a:p xmlns:a="http://schemas.openxmlformats.org/drawingml/2006/main">
            <a:r>
              <a:rPr lang="en-US" sz="900" b="0">
                <a:solidFill>
                  <a:srgbClr val="E8E8E8"/>
                </a:solidFill>
              </a:rPr>
              <a:t>    focus on these key foods:</a:t>
            </a:r>
          </a:p>
          <a:p xmlns:a="http://schemas.openxmlformats.org/drawingml/2006/main">
            <a:r>
              <a:rPr lang="en-US" sz="900" b="0">
                <a:solidFill>
                  <a:srgbClr val="E8E8E8"/>
                </a:solidFill>
              </a:rPr>
              <a:t/>
            </a:r>
          </a:p>
          <a:p xmlns:a="http://schemas.openxmlformats.org/drawingml/2006/main">
            <a:r>
              <a:rPr lang="en-US" sz="900" b="0">
                <a:solidFill>
                  <a:srgbClr val="E8E8E8"/>
                </a:solidFill>
              </a:rPr>
              <a:t>    1. Low-GI Grains — Brown rice, oats, millets</a:t>
            </a:r>
          </a:p>
          <a:p xmlns:a="http://schemas.openxmlformats.org/drawingml/2006/main">
            <a:r>
              <a:rPr lang="en-US" sz="900" b="0">
                <a:solidFill>
                  <a:srgbClr val="E8E8E8"/>
                </a:solidFill>
              </a:rPr>
              <a:t>       (jowar, bajra, ragi) release glucose slowly</a:t>
            </a:r>
          </a:p>
          <a:p xmlns:a="http://schemas.openxmlformats.org/drawingml/2006/main">
            <a:r>
              <a:rPr lang="en-US" sz="900" b="0">
                <a:solidFill>
                  <a:srgbClr val="E8E8E8"/>
                </a:solidFill>
              </a:rPr>
              <a:t>    2. Bitter Gourd (Karela) — Contains charantin</a:t>
            </a:r>
          </a:p>
          <a:p xmlns:a="http://schemas.openxmlformats.org/drawingml/2006/main">
            <a:r>
              <a:rPr lang="en-US" sz="900" b="0">
                <a:solidFill>
                  <a:srgbClr val="E8E8E8"/>
                </a:solidFill>
              </a:rPr>
              <a:t>       which helps regulate blood sugar levels</a:t>
            </a:r>
          </a:p>
          <a:p xmlns:a="http://schemas.openxmlformats.org/drawingml/2006/main">
            <a:r>
              <a:rPr lang="en-US" sz="900" b="0">
                <a:solidFill>
                  <a:srgbClr val="E8E8E8"/>
                </a:solidFill>
              </a:rPr>
              <a:t>    3. Fenugreek Seeds — Improve insulin sensitivity</a:t>
            </a:r>
          </a:p>
          <a:p xmlns:a="http://schemas.openxmlformats.org/drawingml/2006/main">
            <a:r>
              <a:rPr lang="en-US" sz="900" b="0">
                <a:solidFill>
                  <a:srgbClr val="E8E8E8"/>
                </a:solidFill>
              </a:rPr>
              <a:t>    4. Leafy Greens — Spinach, methi are magnesium-</a:t>
            </a:r>
          </a:p>
          <a:p xmlns:a="http://schemas.openxmlformats.org/drawingml/2006/main">
            <a:r>
              <a:rPr lang="en-US" sz="900" b="0">
                <a:solidFill>
                  <a:srgbClr val="E8E8E8"/>
                </a:solidFill>
              </a:rPr>
              <a:t>       rich, supporting insulin function</a:t>
            </a:r>
          </a:p>
          <a:p xmlns:a="http://schemas.openxmlformats.org/drawingml/2006/main">
            <a:r>
              <a:rPr lang="en-US" sz="900" b="0">
                <a:solidFill>
                  <a:srgbClr val="E8E8E8"/>
                </a:solidFill>
              </a:rPr>
              <a:t>    5. Legumes — Chickpeas, lentils: high fibre,</a:t>
            </a:r>
          </a:p>
          <a:p xmlns:a="http://schemas.openxmlformats.org/drawingml/2006/main">
            <a:r>
              <a:rPr lang="en-US" sz="900" b="0">
                <a:solidFill>
                  <a:srgbClr val="E8E8E8"/>
                </a:solidFill>
              </a:rPr>
              <a:t>       protein, slow glucose release</a:t>
            </a:r>
          </a:p>
          <a:p xmlns:a="http://schemas.openxmlformats.org/drawingml/2006/main">
            <a:r>
              <a:rPr lang="en-US" sz="900" b="0">
                <a:solidFill>
                  <a:srgbClr val="E8E8E8"/>
                </a:solidFill>
              </a:rPr>
              <a:t/>
            </a:r>
          </a:p>
          <a:p xmlns:a="http://schemas.openxmlformats.org/drawingml/2006/main">
            <a:r>
              <a:rPr lang="en-US" sz="900" b="0">
                <a:solidFill>
                  <a:srgbClr val="E8E8E8"/>
                </a:solidFill>
              </a:rPr>
              <a:t>    Always pair carbs with protein/fat to blunt the</a:t>
            </a:r>
          </a:p>
          <a:p xmlns:a="http://schemas.openxmlformats.org/drawingml/2006/main">
            <a:r>
              <a:rPr lang="en-US" sz="900" b="0">
                <a:solidFill>
                  <a:srgbClr val="E8E8E8"/>
                </a:solidFill>
              </a:rPr>
              <a:t>    glucose spike. Consult your dietitian for a</a:t>
            </a:r>
          </a:p>
          <a:p xmlns:a="http://schemas.openxmlformats.org/drawingml/2006/main">
            <a:r>
              <a:rPr lang="en-US" sz="900" b="0">
                <a:solidFill>
                  <a:srgbClr val="E8E8E8"/>
                </a:solidFill>
              </a:rPr>
              <a:t>    personalised plan.</a:t>
            </a:r>
          </a:p>
          <a:p xmlns:a="http://schemas.openxmlformats.org/drawingml/2006/main">
            <a:r>
              <a:rPr lang="en-US" sz="900" b="0">
                <a:solidFill>
                  <a:srgbClr val="E8E8E8"/>
                </a:solidFill>
              </a:rPr>
              <a:t/>
            </a:r>
          </a:p>
          <a:p xmlns:a="http://schemas.openxmlformats.org/drawingml/2006/main">
            <a:r>
              <a:rPr lang="en-US" sz="900" b="0">
                <a:solidFill>
                  <a:srgbClr val="E8E8E8"/>
                </a:solidFill>
              </a:rPr>
              <a:t>[ Ask a nutrition question...                    ] [Send &gt;]</a:t>
            </a:r>
          </a:p>
        </p:txBody>
      </p:sp>
      <p:sp>
        <p:nvSpPr>
          <p:cNvPr id="100066" name="Sidebar"/>
          <p:cNvSpPr txBox="1"/>
          <p:nvPr/>
        </p:nvSpPr>
        <p:spPr>
          <a:xfrm xmlns:a="http://schemas.openxmlformats.org/drawingml/2006/main">
            <a:off x="612000" y="1512000"/>
            <a:ext cx="3420000" cy="4608000"/>
          </a:xfrm>
          <a:prstGeom xmlns:a="http://schemas.openxmlformats.org/drawingml/2006/main" prst="rect">
            <a:avLst/>
          </a:prstGeom>
          <a:solidFill xmlns:a="http://schemas.openxmlformats.org/drawingml/2006/main">
            <a:srgbClr val="1A2332"/>
          </a:solidFill>
        </p:spPr>
        <p:txBody>
          <a:bodyPr xmlns:a="http://schemas.openxmlformats.org/drawingml/2006/main"/>
          <a:lstStyle xmlns:a="http://schemas.openxmlformats.org/drawingml/2006/main"/>
          <a:p xmlns:a="http://schemas.openxmlformats.org/drawingml/2006/main">
            <a:r>
              <a:rPr lang="en-US" sz="1000" b="0">
                <a:solidFill>
                  <a:srgbClr val="F0F0F0"/>
                </a:solidFill>
              </a:rPr>
              <a:t>👤 YOUR PROFILE</a:t>
            </a:r>
          </a:p>
          <a:p xmlns:a="http://schemas.openxmlformats.org/drawingml/2006/main">
            <a:r>
              <a:rPr lang="en-US" sz="1000" b="0">
                <a:solidFill>
                  <a:srgbClr val="F0F0F0"/>
                </a:solidFill>
              </a:rPr>
              <a:t/>
            </a:r>
          </a:p>
          <a:p xmlns:a="http://schemas.openxmlformats.org/drawingml/2006/main">
            <a:r>
              <a:rPr lang="en-US" sz="1000" b="0">
                <a:solidFill>
                  <a:srgbClr val="F0F0F0"/>
                </a:solidFill>
              </a:rPr>
              <a:t>Priya Sharma</a:t>
            </a:r>
          </a:p>
          <a:p xmlns:a="http://schemas.openxmlformats.org/drawingml/2006/main">
            <a:r>
              <a:rPr lang="en-US" sz="1000" b="0">
                <a:solidFill>
                  <a:srgbClr val="F0F0F0"/>
                </a:solidFill>
              </a:rPr>
              <a:t>Age: 35</a:t>
            </a:r>
          </a:p>
          <a:p xmlns:a="http://schemas.openxmlformats.org/drawingml/2006/main">
            <a:r>
              <a:rPr lang="en-US" sz="1000" b="0">
                <a:solidFill>
                  <a:srgbClr val="F0F0F0"/>
                </a:solidFill>
              </a:rPr>
              <a:t>Mumbai, India</a:t>
            </a:r>
          </a:p>
          <a:p xmlns:a="http://schemas.openxmlformats.org/drawingml/2006/main">
            <a:r>
              <a:rPr lang="en-US" sz="1000" b="0">
                <a:solidFill>
                  <a:srgbClr val="F0F0F0"/>
                </a:solidFill>
              </a:rPr>
              <a:t/>
            </a:r>
          </a:p>
          <a:p xmlns:a="http://schemas.openxmlformats.org/drawingml/2006/main">
            <a:r>
              <a:rPr lang="en-US" sz="1000" b="0">
                <a:solidFill>
                  <a:srgbClr val="F0F0F0"/>
                </a:solidFill>
              </a:rPr>
              <a:t>🌱 Vegetarian</a:t>
            </a:r>
          </a:p>
          <a:p xmlns:a="http://schemas.openxmlformats.org/drawingml/2006/main">
            <a:r>
              <a:rPr lang="en-US" sz="1000" b="0">
                <a:solidFill>
                  <a:srgbClr val="F0F0F0"/>
                </a:solidFill>
              </a:rPr>
              <a:t/>
            </a:r>
          </a:p>
          <a:p xmlns:a="http://schemas.openxmlformats.org/drawingml/2006/main">
            <a:r>
              <a:rPr lang="en-US" sz="1000" b="0">
                <a:solidFill>
                  <a:srgbClr val="F0F0F0"/>
                </a:solidFill>
              </a:rPr>
              <a:t>Goal:</a:t>
            </a:r>
          </a:p>
          <a:p xmlns:a="http://schemas.openxmlformats.org/drawingml/2006/main">
            <a:r>
              <a:rPr lang="en-US" sz="1000" b="0">
                <a:solidFill>
                  <a:srgbClr val="F0F0F0"/>
                </a:solidFill>
              </a:rPr>
              <a:t>Manage Diabetes</a:t>
            </a:r>
          </a:p>
          <a:p xmlns:a="http://schemas.openxmlformats.org/drawingml/2006/main">
            <a:r>
              <a:rPr lang="en-US" sz="1000" b="0">
                <a:solidFill>
                  <a:srgbClr val="F0F0F0"/>
                </a:solidFill>
              </a:rPr>
              <a:t/>
            </a:r>
          </a:p>
          <a:p xmlns:a="http://schemas.openxmlformats.org/drawingml/2006/main">
            <a:r>
              <a:rPr lang="en-US" sz="1000" b="0">
                <a:solidFill>
                  <a:srgbClr val="F0F0F0"/>
                </a:solidFill>
              </a:rPr>
              <a:t>Medical:</a:t>
            </a:r>
          </a:p>
          <a:p xmlns:a="http://schemas.openxmlformats.org/drawingml/2006/main">
            <a:r>
              <a:rPr lang="en-US" sz="1000" b="0">
                <a:solidFill>
                  <a:srgbClr val="F0F0F0"/>
                </a:solidFill>
              </a:rPr>
              <a:t>Type 2 Diabetes</a:t>
            </a:r>
          </a:p>
          <a:p xmlns:a="http://schemas.openxmlformats.org/drawingml/2006/main">
            <a:r>
              <a:rPr lang="en-US" sz="1000" b="0">
                <a:solidFill>
                  <a:srgbClr val="F0F0F0"/>
                </a:solidFill>
              </a:rPr>
              <a:t>Hypertension</a:t>
            </a:r>
          </a:p>
          <a:p xmlns:a="http://schemas.openxmlformats.org/drawingml/2006/main">
            <a:r>
              <a:rPr lang="en-US" sz="1000" b="0">
                <a:solidFill>
                  <a:srgbClr val="F0F0F0"/>
                </a:solidFill>
              </a:rPr>
              <a:t/>
            </a:r>
          </a:p>
          <a:p xmlns:a="http://schemas.openxmlformats.org/drawingml/2006/main">
            <a:r>
              <a:rPr lang="en-US" sz="1000" b="0">
                <a:solidFill>
                  <a:srgbClr val="F0F0F0"/>
                </a:solidFill>
              </a:rPr>
              <a:t>Context shared</a:t>
            </a:r>
          </a:p>
          <a:p xmlns:a="http://schemas.openxmlformats.org/drawingml/2006/main">
            <a:r>
              <a:rPr lang="en-US" sz="1000" b="0">
                <a:solidFill>
                  <a:srgbClr val="F0F0F0"/>
                </a:solidFill>
              </a:rPr>
              <a:t>with chat AI</a:t>
            </a:r>
          </a:p>
        </p:txBody>
      </p:sp>
      <p:sp>
        <p:nvSpPr>
          <p:cNvPr id="100067" name="BottomLine"/>
          <p:cNvSpPr txBox="1"/>
          <p:nvPr/>
        </p:nvSpPr>
        <p:spPr>
          <a:xfrm xmlns:a="http://schemas.openxmlformats.org/drawingml/2006/main">
            <a:off x="0" y="6408000"/>
            <a:ext cx="12193200" cy="432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200">
                <a:solidFill>
                  <a:srgbClr val="FFFFFF"/>
                </a:solidFill>
              </a:rPr>
              <a:t>POST /api/query  |  User context injected automatically  |  Guardrails active  |  Evidence-based responses</a:t>
            </a:r>
          </a:p>
        </p:txBody>
      </p:sp>
    </p:spTree>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68" name="TopBar"/>
          <p:cNvSpPr txBox="1"/>
          <p:nvPr/>
        </p:nvSpPr>
        <p:spPr>
          <a:xfrm xmlns:a="http://schemas.openxmlformats.org/drawingml/2006/main">
            <a:off x="0" y="0"/>
            <a:ext cx="12193200" cy="288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100" b="1">
                <a:solidFill>
                  <a:srgbClr val="FFFFFF"/>
                </a:solidFill>
              </a:rPr>
              <a:t>NutriGuide AI  |  Sample Nutrition Plan Output</a:t>
            </a:r>
          </a:p>
        </p:txBody>
      </p:sp>
      <p:sp>
        <p:nvSpPr>
          <p:cNvPr id="100069" name="Title"/>
          <p:cNvSpPr txBox="1"/>
          <p:nvPr/>
        </p:nvSpPr>
        <p:spPr>
          <a:xfrm xmlns:a="http://schemas.openxmlformats.org/drawingml/2006/main">
            <a:off x="540000" y="432000"/>
            <a:ext cx="1080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0F3460"/>
                </a:solidFill>
              </a:rPr>
              <a:t>Sample Nutrition Plan — Plan Output (.md)</a:t>
            </a:r>
          </a:p>
        </p:txBody>
      </p:sp>
      <p:sp>
        <p:nvSpPr>
          <p:cNvPr id="100070" name="Meta"/>
          <p:cNvSpPr txBox="1"/>
          <p:nvPr/>
        </p:nvSpPr>
        <p:spPr>
          <a:xfrm xmlns:a="http://schemas.openxmlformats.org/drawingml/2006/main">
            <a:off x="540000" y="936000"/>
            <a:ext cx="10800000" cy="252000"/>
          </a:xfrm>
          <a:prstGeom xmlns:a="http://schemas.openxmlformats.org/drawingml/2006/main" prst="rect">
            <a:avLst/>
          </a:prstGeom>
          <a:solidFill xmlns:a="http://schemas.openxmlformats.org/drawingml/2006/main">
            <a:srgbClr val="F4F4F4"/>
          </a:solidFill>
        </p:spPr>
        <p:txBody>
          <a:bodyPr xmlns:a="http://schemas.openxmlformats.org/drawingml/2006/main"/>
          <a:lstStyle xmlns:a="http://schemas.openxmlformats.org/drawingml/2006/main"/>
          <a:p xmlns:a="http://schemas.openxmlformats.org/drawingml/2006/main">
            <a:r>
              <a:rPr lang="en-US" sz="1200" b="0">
                <a:solidFill>
                  <a:srgbClr val="0F62FE"/>
                </a:solidFill>
              </a:rPr>
              <a:t>User: Demo User  |  Age: 35  |  Vegetarian  |  Mumbai, India  |  Goal: Manage Diabetes  |  Model: IBM Granite 13B</a:t>
            </a:r>
          </a:p>
        </p:txBody>
      </p:sp>
      <p:sp>
        <p:nvSpPr>
          <p:cNvPr id="100071" name="Assessment"/>
          <p:cNvSpPr txBox="1"/>
          <p:nvPr/>
        </p:nvSpPr>
        <p:spPr>
          <a:xfrm xmlns:a="http://schemas.openxmlformats.org/drawingml/2006/main">
            <a:off x="540000" y="1260000"/>
            <a:ext cx="5328000" cy="1800000"/>
          </a:xfrm>
          <a:prstGeom xmlns:a="http://schemas.openxmlformats.org/drawingml/2006/main" prst="rect">
            <a:avLst/>
          </a:prstGeom>
          <a:solidFill xmlns:a="http://schemas.openxmlformats.org/drawingml/2006/main">
            <a:srgbClr val="F0F8FF"/>
          </a:solidFill>
        </p:spPr>
        <p:txBody>
          <a:bodyPr xmlns:a="http://schemas.openxmlformats.org/drawingml/2006/main"/>
          <a:lstStyle xmlns:a="http://schemas.openxmlformats.org/drawingml/2006/main"/>
          <a:p xmlns:a="http://schemas.openxmlformats.org/drawingml/2006/main">
            <a:r>
              <a:rPr lang="en-US" sz="1300" b="0">
                <a:solidFill>
                  <a:srgbClr val="1F2328"/>
                </a:solidFill>
              </a:rPr>
              <a:t>NUTRITIONAL ASSESSMENT</a:t>
            </a:r>
          </a:p>
          <a:p xmlns:a="http://schemas.openxmlformats.org/drawingml/2006/main">
            <a:r>
              <a:rPr lang="en-US" sz="1300" b="0">
                <a:solidFill>
                  <a:srgbClr val="1F2328"/>
                </a:solidFill>
              </a:rPr>
              <a:t/>
            </a:r>
          </a:p>
          <a:p xmlns:a="http://schemas.openxmlformats.org/drawingml/2006/main">
            <a:r>
              <a:rPr lang="en-US" sz="1300" b="0">
                <a:solidFill>
                  <a:srgbClr val="1F2328"/>
                </a:solidFill>
              </a:rPr>
              <a:t>Dietary plan prioritises:</a:t>
            </a:r>
          </a:p>
          <a:p xmlns:a="http://schemas.openxmlformats.org/drawingml/2006/main">
            <a:r>
              <a:rPr lang="en-US" sz="1300" b="0">
                <a:solidFill>
                  <a:srgbClr val="1F2328"/>
                </a:solidFill>
              </a:rPr>
              <a:t>  • Low Glycaemic Index (GI) foods</a:t>
            </a:r>
          </a:p>
          <a:p xmlns:a="http://schemas.openxmlformats.org/drawingml/2006/main">
            <a:r>
              <a:rPr lang="en-US" sz="1300" b="0">
                <a:solidFill>
                  <a:srgbClr val="1F2328"/>
                </a:solidFill>
              </a:rPr>
              <a:t>  • Adequate fibre (30–35g/day)</a:t>
            </a:r>
          </a:p>
          <a:p xmlns:a="http://schemas.openxmlformats.org/drawingml/2006/main">
            <a:r>
              <a:rPr lang="en-US" sz="1300" b="0">
                <a:solidFill>
                  <a:srgbClr val="1F2328"/>
                </a:solidFill>
              </a:rPr>
              <a:t>  • Controlled carbohydrate portions</a:t>
            </a:r>
          </a:p>
          <a:p xmlns:a="http://schemas.openxmlformats.org/drawingml/2006/main">
            <a:r>
              <a:rPr lang="en-US" sz="1300" b="0">
                <a:solidFill>
                  <a:srgbClr val="1F2328"/>
                </a:solidFill>
              </a:rPr>
              <a:t>  • Anti-diabetic spices and vegetables</a:t>
            </a:r>
          </a:p>
          <a:p xmlns:a="http://schemas.openxmlformats.org/drawingml/2006/main">
            <a:r>
              <a:rPr lang="en-US" sz="1300" b="0">
                <a:solidFill>
                  <a:srgbClr val="1F2328"/>
                </a:solidFill>
              </a:rPr>
              <a:t/>
            </a:r>
          </a:p>
          <a:p xmlns:a="http://schemas.openxmlformats.org/drawingml/2006/main">
            <a:r>
              <a:rPr lang="en-US" sz="1300" b="0">
                <a:solidFill>
                  <a:srgbClr val="1F2328"/>
                </a:solidFill>
              </a:rPr>
              <a:t>Goal: Maintain stable blood sugar levels</a:t>
            </a:r>
          </a:p>
        </p:txBody>
      </p:sp>
      <p:sp>
        <p:nvSpPr>
          <p:cNvPr id="100072" name="Macros"/>
          <p:cNvSpPr txBox="1"/>
          <p:nvPr/>
        </p:nvSpPr>
        <p:spPr>
          <a:xfrm xmlns:a="http://schemas.openxmlformats.org/drawingml/2006/main">
            <a:off x="6120000" y="1260000"/>
            <a:ext cx="5328000" cy="1800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1300" b="0">
                <a:solidFill>
                  <a:srgbClr val="FFFFFF"/>
                </a:solidFill>
              </a:rPr>
              <a:t>DAILY MACRONUTRIENT TARGETS</a:t>
            </a:r>
          </a:p>
          <a:p xmlns:a="http://schemas.openxmlformats.org/drawingml/2006/main">
            <a:r>
              <a:rPr lang="en-US" sz="1300" b="0">
                <a:solidFill>
                  <a:srgbClr val="FFFFFF"/>
                </a:solidFill>
              </a:rPr>
              <a:t/>
            </a:r>
          </a:p>
          <a:p xmlns:a="http://schemas.openxmlformats.org/drawingml/2006/main">
            <a:r>
              <a:rPr lang="en-US" sz="1300" b="0">
                <a:solidFill>
                  <a:srgbClr val="FFFFFF"/>
                </a:solidFill>
              </a:rPr>
              <a:t>  Calories:       1,600 – 1,800 kcal</a:t>
            </a:r>
          </a:p>
          <a:p xmlns:a="http://schemas.openxmlformats.org/drawingml/2006/main">
            <a:r>
              <a:rPr lang="en-US" sz="1300" b="0">
                <a:solidFill>
                  <a:srgbClr val="FFFFFF"/>
                </a:solidFill>
              </a:rPr>
              <a:t>  Protein:        70–85 g  (18–20%)</a:t>
            </a:r>
          </a:p>
          <a:p xmlns:a="http://schemas.openxmlformats.org/drawingml/2006/main">
            <a:r>
              <a:rPr lang="en-US" sz="1300" b="0">
                <a:solidFill>
                  <a:srgbClr val="FFFFFF"/>
                </a:solidFill>
              </a:rPr>
              <a:t>  Carbohydrates:  180–200 g (45–50%)</a:t>
            </a:r>
          </a:p>
          <a:p xmlns:a="http://schemas.openxmlformats.org/drawingml/2006/main">
            <a:r>
              <a:rPr lang="en-US" sz="1300" b="0">
                <a:solidFill>
                  <a:srgbClr val="FFFFFF"/>
                </a:solidFill>
              </a:rPr>
              <a:t>  Healthy Fats:   50–60 g  (28–30%)</a:t>
            </a:r>
          </a:p>
          <a:p xmlns:a="http://schemas.openxmlformats.org/drawingml/2006/main">
            <a:r>
              <a:rPr lang="en-US" sz="1300" b="0">
                <a:solidFill>
                  <a:srgbClr val="FFFFFF"/>
                </a:solidFill>
              </a:rPr>
              <a:t>  Fibre:          30–35 g</a:t>
            </a:r>
          </a:p>
          <a:p xmlns:a="http://schemas.openxmlformats.org/drawingml/2006/main">
            <a:r>
              <a:rPr lang="en-US" sz="1300" b="0">
                <a:solidFill>
                  <a:srgbClr val="FFFFFF"/>
                </a:solidFill>
              </a:rPr>
              <a:t>  Water:          2.5 – 3 litres/day</a:t>
            </a:r>
          </a:p>
        </p:txBody>
      </p:sp>
      <p:sp>
        <p:nvSpPr>
          <p:cNvPr id="100073" name="Day1Title"/>
          <p:cNvSpPr txBox="1"/>
          <p:nvPr/>
        </p:nvSpPr>
        <p:spPr>
          <a:xfrm xmlns:a="http://schemas.openxmlformats.org/drawingml/2006/main">
            <a:off x="540000" y="3204000"/>
            <a:ext cx="10800000" cy="216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300" b="1">
                <a:solidFill>
                  <a:srgbClr val="FFFFFF"/>
                </a:solidFill>
              </a:rPr>
              <a:t>DAY 1 — MONDAY MEAL PLAN</a:t>
            </a:r>
          </a:p>
        </p:txBody>
      </p:sp>
      <p:sp>
        <p:nvSpPr>
          <p:cNvPr id="100074" name="Day1"/>
          <p:cNvSpPr txBox="1"/>
          <p:nvPr/>
        </p:nvSpPr>
        <p:spPr>
          <a:xfrm xmlns:a="http://schemas.openxmlformats.org/drawingml/2006/main">
            <a:off x="540000" y="3456000"/>
            <a:ext cx="10800000" cy="1260000"/>
          </a:xfrm>
          <a:prstGeom xmlns:a="http://schemas.openxmlformats.org/drawingml/2006/main" prst="rect">
            <a:avLst/>
          </a:prstGeom>
          <a:solidFill xmlns:a="http://schemas.openxmlformats.org/drawingml/2006/main">
            <a:srgbClr val="FAFAFA"/>
          </a:solidFill>
        </p:spPr>
        <p:txBody>
          <a:bodyPr xmlns:a="http://schemas.openxmlformats.org/drawingml/2006/main"/>
          <a:lstStyle xmlns:a="http://schemas.openxmlformats.org/drawingml/2006/main"/>
          <a:p xmlns:a="http://schemas.openxmlformats.org/drawingml/2006/main">
            <a:r>
              <a:rPr lang="en-US" sz="1200" b="0">
                <a:solidFill>
                  <a:srgbClr val="1F2328"/>
                </a:solidFill>
              </a:rPr>
              <a:t>Breakfast (~380 kcal): Steel-cut oats + cinnamon + flaxseeds | Mixed berries | Green tea</a:t>
            </a:r>
          </a:p>
          <a:p xmlns:a="http://schemas.openxmlformats.org/drawingml/2006/main">
            <a:r>
              <a:rPr lang="en-US" sz="1200" b="0">
                <a:solidFill>
                  <a:srgbClr val="1F2328"/>
                </a:solidFill>
              </a:rPr>
              <a:t>Lunch    (~520 kcal): Brown rice + moong dal | Methi sabzi with spinach | Cucumber-tomato salad | Whole wheat roti</a:t>
            </a:r>
          </a:p>
          <a:p xmlns:a="http://schemas.openxmlformats.org/drawingml/2006/main">
            <a:r>
              <a:rPr lang="en-US" sz="1200" b="0">
                <a:solidFill>
                  <a:srgbClr val="1F2328"/>
                </a:solidFill>
              </a:rPr>
              <a:t>Snack 1  (~140 kcal): 1 small apple (low GI) + 10 almonds</a:t>
            </a:r>
          </a:p>
          <a:p xmlns:a="http://schemas.openxmlformats.org/drawingml/2006/main">
            <a:r>
              <a:rPr lang="en-US" sz="1200" b="0">
                <a:solidFill>
                  <a:srgbClr val="1F2328"/>
                </a:solidFill>
              </a:rPr>
              <a:t>Dinner   (~480 kcal): Paneer tikka 100g grilled | Steamed broccoli &amp; cauliflower | Clear vegetable soup</a:t>
            </a:r>
          </a:p>
          <a:p xmlns:a="http://schemas.openxmlformats.org/drawingml/2006/main">
            <a:r>
              <a:rPr lang="en-US" sz="1200" b="0">
                <a:solidFill>
                  <a:srgbClr val="1F2328"/>
                </a:solidFill>
              </a:rPr>
              <a:t>Snack 2  (~80 kcal):  Turmeric milk with black pepper (no sugar)</a:t>
            </a:r>
          </a:p>
          <a:p xmlns:a="http://schemas.openxmlformats.org/drawingml/2006/main">
            <a:r>
              <a:rPr lang="en-US" sz="1200" b="0">
                <a:solidFill>
                  <a:srgbClr val="1F2328"/>
                </a:solidFill>
              </a:rPr>
              <a:t>Total:   ~1,600 kcal</a:t>
            </a:r>
          </a:p>
        </p:txBody>
      </p:sp>
      <p:sp>
        <p:nvSpPr>
          <p:cNvPr id="100075" name="DaysNote"/>
          <p:cNvSpPr txBox="1"/>
          <p:nvPr/>
        </p:nvSpPr>
        <p:spPr>
          <a:xfrm xmlns:a="http://schemas.openxmlformats.org/drawingml/2006/main">
            <a:off x="540000" y="4788000"/>
            <a:ext cx="108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200" b="0">
                <a:solidFill>
                  <a:srgbClr val="0F62FE"/>
                </a:solidFill>
              </a:rPr>
              <a:t>Days 2–7: Pattern continues with low-GI grains, legumes, locally available vegetables and portion-controlled carbohydrates.</a:t>
            </a:r>
          </a:p>
        </p:txBody>
      </p:sp>
      <p:sp>
        <p:nvSpPr>
          <p:cNvPr id="100076" name="BottomLine"/>
          <p:cNvSpPr txBox="1"/>
          <p:nvPr/>
        </p:nvSpPr>
        <p:spPr>
          <a:xfrm xmlns:a="http://schemas.openxmlformats.org/drawingml/2006/main">
            <a:off x="0" y="6408000"/>
            <a:ext cx="12193200" cy="432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1200">
                <a:solidFill>
                  <a:srgbClr val="FFFFFF"/>
                </a:solidFill>
              </a:rPr>
              <a:t>Saved as: nutrition_plan_Demo_User_20250101_000000.md  |  nutrition_plans/ directory</a:t>
            </a:r>
          </a:p>
        </p:txBody>
      </p:sp>
    </p:spTree>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77" name="TopBar"/>
          <p:cNvSpPr txBox="1"/>
          <p:nvPr/>
        </p:nvSpPr>
        <p:spPr>
          <a:xfrm xmlns:a="http://schemas.openxmlformats.org/drawingml/2006/main">
            <a:off x="0" y="0"/>
            <a:ext cx="12193200" cy="288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100" b="1">
                <a:solidFill>
                  <a:srgbClr val="FFFFFF"/>
                </a:solidFill>
              </a:rPr>
              <a:t>NutriGuide AI  |  Foods to Emphasise &amp; Avoid</a:t>
            </a:r>
          </a:p>
        </p:txBody>
      </p:sp>
      <p:sp>
        <p:nvSpPr>
          <p:cNvPr id="100078" name="Title"/>
          <p:cNvSpPr txBox="1"/>
          <p:nvPr/>
        </p:nvSpPr>
        <p:spPr>
          <a:xfrm xmlns:a="http://schemas.openxmlformats.org/drawingml/2006/main">
            <a:off x="540000" y="432000"/>
            <a:ext cx="1080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0F3460"/>
                </a:solidFill>
              </a:rPr>
              <a:t>Foods to Emphasise &amp; Avoid — Diabetes Plan</a:t>
            </a:r>
          </a:p>
        </p:txBody>
      </p:sp>
      <p:sp>
        <p:nvSpPr>
          <p:cNvPr id="100079" name="Divider"/>
          <p:cNvSpPr txBox="1"/>
          <p:nvPr/>
        </p:nvSpPr>
        <p:spPr>
          <a:xfrm xmlns:a="http://schemas.openxmlformats.org/drawingml/2006/main">
            <a:off x="540000" y="936000"/>
            <a:ext cx="10800000" cy="288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p:txBody>
      </p:sp>
      <p:sp>
        <p:nvSpPr>
          <p:cNvPr id="100080" name="EmphasiseHdr"/>
          <p:cNvSpPr txBox="1"/>
          <p:nvPr/>
        </p:nvSpPr>
        <p:spPr>
          <a:xfrm xmlns:a="http://schemas.openxmlformats.org/drawingml/2006/main">
            <a:off x="540000" y="1044000"/>
            <a:ext cx="5328000" cy="252000"/>
          </a:xfrm>
          <a:prstGeom xmlns:a="http://schemas.openxmlformats.org/drawingml/2006/main" prst="rect">
            <a:avLst/>
          </a:prstGeom>
          <a:solidFill xmlns:a="http://schemas.openxmlformats.org/drawingml/2006/main">
            <a:srgbClr val="198038"/>
          </a:solidFill>
        </p:spPr>
        <p:txBody>
          <a:bodyPr xmlns:a="http://schemas.openxmlformats.org/drawingml/2006/main"/>
          <a:lstStyle xmlns:a="http://schemas.openxmlformats.org/drawingml/2006/main"/>
          <a:p xmlns:a="http://schemas.openxmlformats.org/drawingml/2006/main">
            <a:r>
              <a:rPr lang="en-US" sz="1300" b="1">
                <a:solidFill>
                  <a:srgbClr val="FFFFFF"/>
                </a:solidFill>
              </a:rPr>
              <a:t>TOP 10 — FOODS TO EMPHASISE</a:t>
            </a:r>
          </a:p>
        </p:txBody>
      </p:sp>
      <p:sp>
        <p:nvSpPr>
          <p:cNvPr id="100081" name="Emphasise"/>
          <p:cNvSpPr txBox="1"/>
          <p:nvPr/>
        </p:nvSpPr>
        <p:spPr>
          <a:xfrm xmlns:a="http://schemas.openxmlformats.org/drawingml/2006/main">
            <a:off x="540000" y="1332000"/>
            <a:ext cx="5328000" cy="2880000"/>
          </a:xfrm>
          <a:prstGeom xmlns:a="http://schemas.openxmlformats.org/drawingml/2006/main" prst="rect">
            <a:avLst/>
          </a:prstGeom>
          <a:solidFill xmlns:a="http://schemas.openxmlformats.org/drawingml/2006/main">
            <a:srgbClr val="F0FFF0"/>
          </a:solidFill>
        </p:spPr>
        <p:txBody>
          <a:bodyPr xmlns:a="http://schemas.openxmlformats.org/drawingml/2006/main"/>
          <a:lstStyle xmlns:a="http://schemas.openxmlformats.org/drawingml/2006/main"/>
          <a:p xmlns:a="http://schemas.openxmlformats.org/drawingml/2006/main">
            <a:r>
              <a:rPr lang="en-US" sz="1300" b="0">
                <a:solidFill>
                  <a:srgbClr val="1F2328"/>
                </a:solidFill>
              </a:rPr>
              <a:t>1.  Bitter Gourd (karela) — lowers blood sugar naturally</a:t>
            </a:r>
          </a:p>
          <a:p xmlns:a="http://schemas.openxmlformats.org/drawingml/2006/main">
            <a:r>
              <a:rPr lang="en-US" sz="1300" b="0">
                <a:solidFill>
                  <a:srgbClr val="1F2328"/>
                </a:solidFill>
              </a:rPr>
              <a:t>2.  Fenugreek Seeds (methi) — improves insulin sensitivity</a:t>
            </a:r>
          </a:p>
          <a:p xmlns:a="http://schemas.openxmlformats.org/drawingml/2006/main">
            <a:r>
              <a:rPr lang="en-US" sz="1300" b="0">
                <a:solidFill>
                  <a:srgbClr val="1F2328"/>
                </a:solidFill>
              </a:rPr>
              <a:t>3.  Amla (Indian Gooseberry) — antioxidants, Vitamin C</a:t>
            </a:r>
          </a:p>
          <a:p xmlns:a="http://schemas.openxmlformats.org/drawingml/2006/main">
            <a:r>
              <a:rPr lang="en-US" sz="1300" b="0">
                <a:solidFill>
                  <a:srgbClr val="1F2328"/>
                </a:solidFill>
              </a:rPr>
              <a:t>4.  Drumstick Leaves (moringa) — anti-diabetic properties</a:t>
            </a:r>
          </a:p>
          <a:p xmlns:a="http://schemas.openxmlformats.org/drawingml/2006/main">
            <a:r>
              <a:rPr lang="en-US" sz="1300" b="0">
                <a:solidFill>
                  <a:srgbClr val="1F2328"/>
                </a:solidFill>
              </a:rPr>
              <a:t>5.  Brown Rice &amp; Millets (jowar, bajra, ragi) — low-GI grains</a:t>
            </a:r>
          </a:p>
          <a:p xmlns:a="http://schemas.openxmlformats.org/drawingml/2006/main">
            <a:r>
              <a:rPr lang="en-US" sz="1300" b="0">
                <a:solidFill>
                  <a:srgbClr val="1F2328"/>
                </a:solidFill>
              </a:rPr>
              <a:t>6.  Cinnamon — may improve insulin sensitivity</a:t>
            </a:r>
          </a:p>
          <a:p xmlns:a="http://schemas.openxmlformats.org/drawingml/2006/main">
            <a:r>
              <a:rPr lang="en-US" sz="1300" b="0">
                <a:solidFill>
                  <a:srgbClr val="1F2328"/>
                </a:solidFill>
              </a:rPr>
              <a:t>7.  Jamun (Indian Blackberry) — blood sugar support</a:t>
            </a:r>
          </a:p>
          <a:p xmlns:a="http://schemas.openxmlformats.org/drawingml/2006/main">
            <a:r>
              <a:rPr lang="en-US" sz="1300" b="0">
                <a:solidFill>
                  <a:srgbClr val="1F2328"/>
                </a:solidFill>
              </a:rPr>
              <a:t>8.  Chickpeas &amp; Lentils — high fibre, slow glucose release</a:t>
            </a:r>
          </a:p>
          <a:p xmlns:a="http://schemas.openxmlformats.org/drawingml/2006/main">
            <a:r>
              <a:rPr lang="en-US" sz="1300" b="0">
                <a:solidFill>
                  <a:srgbClr val="1F2328"/>
                </a:solidFill>
              </a:rPr>
              <a:t>9.  Leafy Greens (spinach, methi) — magnesium-rich</a:t>
            </a:r>
          </a:p>
          <a:p xmlns:a="http://schemas.openxmlformats.org/drawingml/2006/main">
            <a:r>
              <a:rPr lang="en-US" sz="1300" b="0">
                <a:solidFill>
                  <a:srgbClr val="1F2328"/>
                </a:solidFill>
              </a:rPr>
              <a:t>10. Chia Seeds — fibre and omega-3 fatty acids</a:t>
            </a:r>
          </a:p>
        </p:txBody>
      </p:sp>
      <p:sp>
        <p:nvSpPr>
          <p:cNvPr id="100082" name="AvoidHdr"/>
          <p:cNvSpPr txBox="1"/>
          <p:nvPr/>
        </p:nvSpPr>
        <p:spPr>
          <a:xfrm xmlns:a="http://schemas.openxmlformats.org/drawingml/2006/main">
            <a:off x="6120000" y="1044000"/>
            <a:ext cx="5328000" cy="252000"/>
          </a:xfrm>
          <a:prstGeom xmlns:a="http://schemas.openxmlformats.org/drawingml/2006/main" prst="rect">
            <a:avLst/>
          </a:prstGeom>
          <a:solidFill xmlns:a="http://schemas.openxmlformats.org/drawingml/2006/main">
            <a:srgbClr val="DA1E28"/>
          </a:solidFill>
        </p:spPr>
        <p:txBody>
          <a:bodyPr xmlns:a="http://schemas.openxmlformats.org/drawingml/2006/main"/>
          <a:lstStyle xmlns:a="http://schemas.openxmlformats.org/drawingml/2006/main"/>
          <a:p xmlns:a="http://schemas.openxmlformats.org/drawingml/2006/main">
            <a:r>
              <a:rPr lang="en-US" sz="1300" b="1">
                <a:solidFill>
                  <a:srgbClr val="FFFFFF"/>
                </a:solidFill>
              </a:rPr>
              <a:t>FOODS TO LIMIT / AVOID</a:t>
            </a:r>
          </a:p>
        </p:txBody>
      </p:sp>
      <p:sp>
        <p:nvSpPr>
          <p:cNvPr id="100083" name="Avoid"/>
          <p:cNvSpPr txBox="1"/>
          <p:nvPr/>
        </p:nvSpPr>
        <p:spPr>
          <a:xfrm xmlns:a="http://schemas.openxmlformats.org/drawingml/2006/main">
            <a:off x="6120000" y="1332000"/>
            <a:ext cx="5328000" cy="2700000"/>
          </a:xfrm>
          <a:prstGeom xmlns:a="http://schemas.openxmlformats.org/drawingml/2006/main" prst="rect">
            <a:avLst/>
          </a:prstGeom>
          <a:solidFill xmlns:a="http://schemas.openxmlformats.org/drawingml/2006/main">
            <a:srgbClr val="FFF0F0"/>
          </a:solidFill>
        </p:spPr>
        <p:txBody>
          <a:bodyPr xmlns:a="http://schemas.openxmlformats.org/drawingml/2006/main"/>
          <a:lstStyle xmlns:a="http://schemas.openxmlformats.org/drawingml/2006/main"/>
          <a:p xmlns:a="http://schemas.openxmlformats.org/drawingml/2006/main">
            <a:r>
              <a:rPr lang="en-US" sz="1300" b="0">
                <a:solidFill>
                  <a:srgbClr val="1F2328"/>
                </a:solidFill>
              </a:rPr>
              <a:t>•  White Rice — replace with brown rice / millets</a:t>
            </a:r>
          </a:p>
          <a:p xmlns:a="http://schemas.openxmlformats.org/drawingml/2006/main">
            <a:r>
              <a:rPr lang="en-US" sz="1300" b="0">
                <a:solidFill>
                  <a:srgbClr val="1F2328"/>
                </a:solidFill>
              </a:rPr>
              <a:t>•  Maida (Refined Flour) products — bread, samosas</a:t>
            </a:r>
          </a:p>
          <a:p xmlns:a="http://schemas.openxmlformats.org/drawingml/2006/main">
            <a:r>
              <a:rPr lang="en-US" sz="1300" b="0">
                <a:solidFill>
                  <a:srgbClr val="1F2328"/>
                </a:solidFill>
              </a:rPr>
              <a:t>•  Fruit Juices — high glycaemic; eat whole fruit</a:t>
            </a:r>
          </a:p>
          <a:p xmlns:a="http://schemas.openxmlformats.org/drawingml/2006/main">
            <a:r>
              <a:rPr lang="en-US" sz="1300" b="0">
                <a:solidFill>
                  <a:srgbClr val="1F2328"/>
                </a:solidFill>
              </a:rPr>
              <a:t>•  Potatoes — high GI; use sweet potato sparingly</a:t>
            </a:r>
          </a:p>
          <a:p xmlns:a="http://schemas.openxmlformats.org/drawingml/2006/main">
            <a:r>
              <a:rPr lang="en-US" sz="1300" b="0">
                <a:solidFill>
                  <a:srgbClr val="1F2328"/>
                </a:solidFill>
              </a:rPr>
              <a:t>•  Sugary Drinks — sodas, packaged juices</a:t>
            </a:r>
          </a:p>
          <a:p xmlns:a="http://schemas.openxmlformats.org/drawingml/2006/main">
            <a:r>
              <a:rPr lang="en-US" sz="1300" b="0">
                <a:solidFill>
                  <a:srgbClr val="1F2328"/>
                </a:solidFill>
              </a:rPr>
              <a:t>•  Fried Foods — puri, bhature, pakoras</a:t>
            </a:r>
          </a:p>
          <a:p xmlns:a="http://schemas.openxmlformats.org/drawingml/2006/main">
            <a:r>
              <a:rPr lang="en-US" sz="1300" b="0">
                <a:solidFill>
                  <a:srgbClr val="1F2328"/>
                </a:solidFill>
              </a:rPr>
              <a:t>•  Processed Sugar — use stevia or dates sparingly</a:t>
            </a:r>
          </a:p>
          <a:p xmlns:a="http://schemas.openxmlformats.org/drawingml/2006/main">
            <a:r>
              <a:rPr lang="en-US" sz="1300" b="0">
                <a:solidFill>
                  <a:srgbClr val="1F2328"/>
                </a:solidFill>
              </a:rPr>
              <a:t>•  Full-fat Dairy in excess</a:t>
            </a:r>
          </a:p>
        </p:txBody>
      </p:sp>
      <p:sp>
        <p:nvSpPr>
          <p:cNvPr id="100084" name="HydrationHdr"/>
          <p:cNvSpPr txBox="1"/>
          <p:nvPr/>
        </p:nvSpPr>
        <p:spPr>
          <a:xfrm xmlns:a="http://schemas.openxmlformats.org/drawingml/2006/main">
            <a:off x="540000" y="4320000"/>
            <a:ext cx="10800000" cy="252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300" b="1">
                <a:solidFill>
                  <a:srgbClr val="FFFFFF"/>
                </a:solidFill>
              </a:rPr>
              <a:t>HYDRATION GUIDE</a:t>
            </a:r>
          </a:p>
        </p:txBody>
      </p:sp>
      <p:sp>
        <p:nvSpPr>
          <p:cNvPr id="100085" name="Hydration"/>
          <p:cNvSpPr txBox="1"/>
          <p:nvPr/>
        </p:nvSpPr>
        <p:spPr>
          <a:xfrm xmlns:a="http://schemas.openxmlformats.org/drawingml/2006/main">
            <a:off x="540000" y="4608000"/>
            <a:ext cx="10800000" cy="432000"/>
          </a:xfrm>
          <a:prstGeom xmlns:a="http://schemas.openxmlformats.org/drawingml/2006/main" prst="rect">
            <a:avLst/>
          </a:prstGeom>
          <a:solidFill xmlns:a="http://schemas.openxmlformats.org/drawingml/2006/main">
            <a:srgbClr val="E8F4FD"/>
          </a:solidFill>
        </p:spPr>
        <p:txBody>
          <a:bodyPr xmlns:a="http://schemas.openxmlformats.org/drawingml/2006/main"/>
          <a:lstStyle xmlns:a="http://schemas.openxmlformats.org/drawingml/2006/main"/>
          <a:p xmlns:a="http://schemas.openxmlformats.org/drawingml/2006/main">
            <a:r>
              <a:rPr lang="en-US" sz="1300" b="0">
                <a:solidFill>
                  <a:srgbClr val="1F2328"/>
                </a:solidFill>
              </a:rPr>
              <a:t>Morning (wake-up): 2 glasses warm water with lemon   |   Before meals: 1 glass (30 min prior)   |   Mid-morning: Coconut water (unsweetened)   |   Evening: Cinnamon / green tea   |   TOTAL: 2.5 – 3 litres/day</a:t>
            </a:r>
          </a:p>
        </p:txBody>
      </p:sp>
      <p:sp>
        <p:nvSpPr>
          <p:cNvPr id="100086" name="BottomLine"/>
          <p:cNvSpPr txBox="1"/>
          <p:nvPr/>
        </p:nvSpPr>
        <p:spPr>
          <a:xfrm xmlns:a="http://schemas.openxmlformats.org/drawingml/2006/main">
            <a:off x="0" y="6408000"/>
            <a:ext cx="12193200" cy="432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1200">
                <a:solidFill>
                  <a:srgbClr val="FFFFFF"/>
                </a:solidFill>
              </a:rPr>
              <a:t>Source: nutrition_plans/sample_nutrition_plan_demo.md  |  IBM Granite AI generated</a:t>
            </a:r>
          </a:p>
        </p:txBody>
      </p:sp>
    </p:spTree>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87" name="TopBar"/>
          <p:cNvSpPr txBox="1"/>
          <p:nvPr/>
        </p:nvSpPr>
        <p:spPr>
          <a:xfrm xmlns:a="http://schemas.openxmlformats.org/drawingml/2006/main">
            <a:off x="0" y="0"/>
            <a:ext cx="12193200" cy="288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100" b="1">
                <a:solidFill>
                  <a:srgbClr val="FFFFFF"/>
                </a:solidFill>
              </a:rPr>
              <a:t>NutriGuide AI  |  AI Ethics &amp; Guardrails</a:t>
            </a:r>
          </a:p>
        </p:txBody>
      </p:sp>
      <p:sp>
        <p:nvSpPr>
          <p:cNvPr id="100088" name="Title"/>
          <p:cNvSpPr txBox="1"/>
          <p:nvPr/>
        </p:nvSpPr>
        <p:spPr>
          <a:xfrm xmlns:a="http://schemas.openxmlformats.org/drawingml/2006/main">
            <a:off x="540000" y="432000"/>
            <a:ext cx="1080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0F3460"/>
                </a:solidFill>
              </a:rPr>
              <a:t>AI Ethics, Guardrails &amp; HAM Framework</a:t>
            </a:r>
          </a:p>
        </p:txBody>
      </p:sp>
      <p:sp>
        <p:nvSpPr>
          <p:cNvPr id="100089" name="Divider"/>
          <p:cNvSpPr txBox="1"/>
          <p:nvPr/>
        </p:nvSpPr>
        <p:spPr>
          <a:xfrm xmlns:a="http://schemas.openxmlformats.org/drawingml/2006/main">
            <a:off x="540000" y="936000"/>
            <a:ext cx="10800000" cy="288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p:txBody>
      </p:sp>
      <p:sp>
        <p:nvSpPr>
          <p:cNvPr id="100090" name="EthicsHdr"/>
          <p:cNvSpPr txBox="1"/>
          <p:nvPr/>
        </p:nvSpPr>
        <p:spPr>
          <a:xfrm xmlns:a="http://schemas.openxmlformats.org/drawingml/2006/main">
            <a:off x="540000" y="1044000"/>
            <a:ext cx="5328000" cy="252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1300" b="1">
                <a:solidFill>
                  <a:srgbClr val="FFFFFF"/>
                </a:solidFill>
              </a:rPr>
              <a:t>IBM AI ETHICS — 5 PRINCIPLES</a:t>
            </a:r>
          </a:p>
        </p:txBody>
      </p:sp>
      <p:sp>
        <p:nvSpPr>
          <p:cNvPr id="100091" name="Ethics"/>
          <p:cNvSpPr txBox="1"/>
          <p:nvPr/>
        </p:nvSpPr>
        <p:spPr>
          <a:xfrm xmlns:a="http://schemas.openxmlformats.org/drawingml/2006/main">
            <a:off x="540000" y="1332000"/>
            <a:ext cx="5328000" cy="3060000"/>
          </a:xfrm>
          <a:prstGeom xmlns:a="http://schemas.openxmlformats.org/drawingml/2006/main" prst="rect">
            <a:avLst/>
          </a:prstGeom>
          <a:solidFill xmlns:a="http://schemas.openxmlformats.org/drawingml/2006/main">
            <a:srgbClr val="F4F4F4"/>
          </a:solidFill>
        </p:spPr>
        <p:txBody>
          <a:bodyPr xmlns:a="http://schemas.openxmlformats.org/drawingml/2006/main"/>
          <a:lstStyle xmlns:a="http://schemas.openxmlformats.org/drawingml/2006/main"/>
          <a:p xmlns:a="http://schemas.openxmlformats.org/drawingml/2006/main">
            <a:r>
              <a:rPr lang="en-US" sz="1300" b="0">
                <a:solidFill>
                  <a:srgbClr val="1F2328"/>
                </a:solidFill>
              </a:rPr>
              <a:t>1.  TRANSPARENCY</a:t>
            </a:r>
          </a:p>
          <a:p xmlns:a="http://schemas.openxmlformats.org/drawingml/2006/main">
            <a:r>
              <a:rPr lang="en-US" sz="1300" b="0">
                <a:solidFill>
                  <a:srgbClr val="1F2328"/>
                </a:solidFill>
              </a:rPr>
              <a:t>     Model name and demo/live status always shown to user</a:t>
            </a:r>
          </a:p>
          <a:p xmlns:a="http://schemas.openxmlformats.org/drawingml/2006/main">
            <a:r>
              <a:rPr lang="en-US" sz="1300" b="0">
                <a:solidFill>
                  <a:srgbClr val="1F2328"/>
                </a:solidFill>
              </a:rPr>
              <a:t/>
            </a:r>
          </a:p>
          <a:p xmlns:a="http://schemas.openxmlformats.org/drawingml/2006/main">
            <a:r>
              <a:rPr lang="en-US" sz="1300" b="0">
                <a:solidFill>
                  <a:srgbClr val="1F2328"/>
                </a:solidFill>
              </a:rPr>
              <a:t>2.  FAIRNESS</a:t>
            </a:r>
          </a:p>
          <a:p xmlns:a="http://schemas.openxmlformats.org/drawingml/2006/main">
            <a:r>
              <a:rPr lang="en-US" sz="1300" b="0">
                <a:solidFill>
                  <a:srgbClr val="1F2328"/>
                </a:solidFill>
              </a:rPr>
              <a:t>     Respects all dietary choices; no cultural bias</a:t>
            </a:r>
          </a:p>
          <a:p xmlns:a="http://schemas.openxmlformats.org/drawingml/2006/main">
            <a:r>
              <a:rPr lang="en-US" sz="1300" b="0">
                <a:solidFill>
                  <a:srgbClr val="1F2328"/>
                </a:solidFill>
              </a:rPr>
              <a:t/>
            </a:r>
          </a:p>
          <a:p xmlns:a="http://schemas.openxmlformats.org/drawingml/2006/main">
            <a:r>
              <a:rPr lang="en-US" sz="1300" b="0">
                <a:solidFill>
                  <a:srgbClr val="1F2328"/>
                </a:solidFill>
              </a:rPr>
              <a:t>3.  SAFETY</a:t>
            </a:r>
          </a:p>
          <a:p xmlns:a="http://schemas.openxmlformats.org/drawingml/2006/main">
            <a:r>
              <a:rPr lang="en-US" sz="1300" b="0">
                <a:solidFill>
                  <a:srgbClr val="1F2328"/>
                </a:solidFill>
              </a:rPr>
              <a:t>     Guardrail layer blocks 8+ harmful content patterns</a:t>
            </a:r>
          </a:p>
          <a:p xmlns:a="http://schemas.openxmlformats.org/drawingml/2006/main">
            <a:r>
              <a:rPr lang="en-US" sz="1300" b="0">
                <a:solidFill>
                  <a:srgbClr val="1F2328"/>
                </a:solidFill>
              </a:rPr>
              <a:t/>
            </a:r>
          </a:p>
          <a:p xmlns:a="http://schemas.openxmlformats.org/drawingml/2006/main">
            <a:r>
              <a:rPr lang="en-US" sz="1300" b="0">
                <a:solidFill>
                  <a:srgbClr val="1F2328"/>
                </a:solidFill>
              </a:rPr>
              <a:t>4.  ACCOUNTABILITY</a:t>
            </a:r>
          </a:p>
          <a:p xmlns:a="http://schemas.openxmlformats.org/drawingml/2006/main">
            <a:r>
              <a:rPr lang="en-US" sz="1300" b="0">
                <a:solidFill>
                  <a:srgbClr val="1F2328"/>
                </a:solidFill>
              </a:rPr>
              <a:t>     Medical disclaimer appended to every plan</a:t>
            </a:r>
          </a:p>
          <a:p xmlns:a="http://schemas.openxmlformats.org/drawingml/2006/main">
            <a:r>
              <a:rPr lang="en-US" sz="1300" b="0">
                <a:solidFill>
                  <a:srgbClr val="1F2328"/>
                </a:solidFill>
              </a:rPr>
              <a:t/>
            </a:r>
          </a:p>
          <a:p xmlns:a="http://schemas.openxmlformats.org/drawingml/2006/main">
            <a:r>
              <a:rPr lang="en-US" sz="1300" b="0">
                <a:solidFill>
                  <a:srgbClr val="1F2328"/>
                </a:solidFill>
              </a:rPr>
              <a:t>5.  PRIVACY</a:t>
            </a:r>
          </a:p>
          <a:p xmlns:a="http://schemas.openxmlformats.org/drawingml/2006/main">
            <a:r>
              <a:rPr lang="en-US" sz="1300" b="0">
                <a:solidFill>
                  <a:srgbClr val="1F2328"/>
                </a:solidFill>
              </a:rPr>
              <a:t>     No user data stored beyond session</a:t>
            </a:r>
          </a:p>
        </p:txBody>
      </p:sp>
      <p:sp>
        <p:nvSpPr>
          <p:cNvPr id="100092" name="GuardrailHdr"/>
          <p:cNvSpPr txBox="1"/>
          <p:nvPr/>
        </p:nvSpPr>
        <p:spPr>
          <a:xfrm xmlns:a="http://schemas.openxmlformats.org/drawingml/2006/main">
            <a:off x="6120000" y="1044000"/>
            <a:ext cx="5328000" cy="252000"/>
          </a:xfrm>
          <a:prstGeom xmlns:a="http://schemas.openxmlformats.org/drawingml/2006/main" prst="rect">
            <a:avLst/>
          </a:prstGeom>
          <a:solidFill xmlns:a="http://schemas.openxmlformats.org/drawingml/2006/main">
            <a:srgbClr val="DA1E28"/>
          </a:solidFill>
        </p:spPr>
        <p:txBody>
          <a:bodyPr xmlns:a="http://schemas.openxmlformats.org/drawingml/2006/main"/>
          <a:lstStyle xmlns:a="http://schemas.openxmlformats.org/drawingml/2006/main"/>
          <a:p xmlns:a="http://schemas.openxmlformats.org/drawingml/2006/main">
            <a:r>
              <a:rPr lang="en-US" sz="1300" b="1">
                <a:solidFill>
                  <a:srgbClr val="FFFFFF"/>
                </a:solidFill>
              </a:rPr>
              <a:t>GUARDRAIL PATTERNS — BLOCKED CONTENT</a:t>
            </a:r>
          </a:p>
        </p:txBody>
      </p:sp>
      <p:sp>
        <p:nvSpPr>
          <p:cNvPr id="100093" name="Guardrails"/>
          <p:cNvSpPr txBox="1"/>
          <p:nvPr/>
        </p:nvSpPr>
        <p:spPr>
          <a:xfrm xmlns:a="http://schemas.openxmlformats.org/drawingml/2006/main">
            <a:off x="6120000" y="1332000"/>
            <a:ext cx="5328000" cy="3060000"/>
          </a:xfrm>
          <a:prstGeom xmlns:a="http://schemas.openxmlformats.org/drawingml/2006/main" prst="rect">
            <a:avLst/>
          </a:prstGeom>
          <a:solidFill xmlns:a="http://schemas.openxmlformats.org/drawingml/2006/main">
            <a:srgbClr val="FFF8F8"/>
          </a:solidFill>
        </p:spPr>
        <p:txBody>
          <a:bodyPr xmlns:a="http://schemas.openxmlformats.org/drawingml/2006/main"/>
          <a:lstStyle xmlns:a="http://schemas.openxmlformats.org/drawingml/2006/main"/>
          <a:p xmlns:a="http://schemas.openxmlformats.org/drawingml/2006/main">
            <a:r>
              <a:rPr lang="en-US" sz="1300" b="0">
                <a:solidFill>
                  <a:srgbClr val="1F2328"/>
                </a:solidFill>
              </a:rPr>
              <a:t>BLOCKED (auto-removed from AI output):</a:t>
            </a:r>
          </a:p>
          <a:p xmlns:a="http://schemas.openxmlformats.org/drawingml/2006/main">
            <a:r>
              <a:rPr lang="en-US" sz="1300" b="0">
                <a:solidFill>
                  <a:srgbClr val="1F2328"/>
                </a:solidFill>
              </a:rPr>
              <a:t/>
            </a:r>
          </a:p>
          <a:p xmlns:a="http://schemas.openxmlformats.org/drawingml/2006/main">
            <a:r>
              <a:rPr lang="en-US" sz="1300" b="0">
                <a:solidFill>
                  <a:srgbClr val="1F2328"/>
                </a:solidFill>
              </a:rPr>
              <a:t>  stop taking [medication]  — medication interference</a:t>
            </a:r>
          </a:p>
          <a:p xmlns:a="http://schemas.openxmlformats.org/drawingml/2006/main">
            <a:r>
              <a:rPr lang="en-US" sz="1300" b="0">
                <a:solidFill>
                  <a:srgbClr val="1F2328"/>
                </a:solidFill>
              </a:rPr>
              <a:t>  cure [disease]            — unsubstantiated claims</a:t>
            </a:r>
          </a:p>
          <a:p xmlns:a="http://schemas.openxmlformats.org/drawingml/2006/main">
            <a:r>
              <a:rPr lang="en-US" sz="1300" b="0">
                <a:solidFill>
                  <a:srgbClr val="1F2328"/>
                </a:solidFill>
              </a:rPr>
              <a:t>  guaranteed weight loss    — false promises</a:t>
            </a:r>
          </a:p>
          <a:p xmlns:a="http://schemas.openxmlformats.org/drawingml/2006/main">
            <a:r>
              <a:rPr lang="en-US" sz="1300" b="0">
                <a:solidFill>
                  <a:srgbClr val="1F2328"/>
                </a:solidFill>
              </a:rPr>
              <a:t>  detox / cleanse           — pseudoscientific claims</a:t>
            </a:r>
          </a:p>
          <a:p xmlns:a="http://schemas.openxmlformats.org/drawingml/2006/main">
            <a:r>
              <a:rPr lang="en-US" sz="1300" b="0">
                <a:solidFill>
                  <a:srgbClr val="1F2328"/>
                </a:solidFill>
              </a:rPr>
              <a:t>  miracle food / diet       — exaggerated claims</a:t>
            </a:r>
          </a:p>
          <a:p xmlns:a="http://schemas.openxmlformats.org/drawingml/2006/main">
            <a:r>
              <a:rPr lang="en-US" sz="1300" b="0">
                <a:solidFill>
                  <a:srgbClr val="1F2328"/>
                </a:solidFill>
              </a:rPr>
              <a:t>  lose X kg in Y days       — unrealistic promises</a:t>
            </a:r>
          </a:p>
          <a:p xmlns:a="http://schemas.openxmlformats.org/drawingml/2006/main">
            <a:r>
              <a:rPr lang="en-US" sz="1300" b="0">
                <a:solidFill>
                  <a:srgbClr val="1F2328"/>
                </a:solidFill>
              </a:rPr>
              <a:t>  starve yourself           — dangerous advice</a:t>
            </a:r>
          </a:p>
          <a:p xmlns:a="http://schemas.openxmlformats.org/drawingml/2006/main">
            <a:r>
              <a:rPr lang="en-US" sz="1300" b="0">
                <a:solidFill>
                  <a:srgbClr val="1F2328"/>
                </a:solidFill>
              </a:rPr>
              <a:t>  unsafe fasting            — health risk</a:t>
            </a:r>
          </a:p>
          <a:p xmlns:a="http://schemas.openxmlformats.org/drawingml/2006/main">
            <a:r>
              <a:rPr lang="en-US" sz="1300" b="0">
                <a:solidFill>
                  <a:srgbClr val="1F2328"/>
                </a:solidFill>
              </a:rPr>
              <a:t/>
            </a:r>
          </a:p>
          <a:p xmlns:a="http://schemas.openxmlformats.org/drawingml/2006/main">
            <a:r>
              <a:rPr lang="en-US" sz="1300" b="0">
                <a:solidFill>
                  <a:srgbClr val="1F2328"/>
                </a:solidFill>
              </a:rPr>
              <a:t>HAM TONE FRAMEWORK:</a:t>
            </a:r>
          </a:p>
          <a:p xmlns:a="http://schemas.openxmlformats.org/drawingml/2006/main">
            <a:r>
              <a:rPr lang="en-US" sz="1300" b="0">
                <a:solidFill>
                  <a:srgbClr val="1F2328"/>
                </a:solidFill>
              </a:rPr>
              <a:t>  Helpful  — warm, supportive language</a:t>
            </a:r>
          </a:p>
          <a:p xmlns:a="http://schemas.openxmlformats.org/drawingml/2006/main">
            <a:r>
              <a:rPr lang="en-US" sz="1300" b="0">
                <a:solidFill>
                  <a:srgbClr val="1F2328"/>
                </a:solidFill>
              </a:rPr>
              <a:t>  Accurate — evidence-based guidance only</a:t>
            </a:r>
          </a:p>
          <a:p xmlns:a="http://schemas.openxmlformats.org/drawingml/2006/main">
            <a:r>
              <a:rPr lang="en-US" sz="1300" b="0">
                <a:solidFill>
                  <a:srgbClr val="1F2328"/>
                </a:solidFill>
              </a:rPr>
              <a:t>  Mindful  — escalate to professionals always</a:t>
            </a:r>
          </a:p>
        </p:txBody>
      </p:sp>
      <p:sp>
        <p:nvSpPr>
          <p:cNvPr id="100094" name="Disclaimer"/>
          <p:cNvSpPr txBox="1"/>
          <p:nvPr/>
        </p:nvSpPr>
        <p:spPr>
          <a:xfrm xmlns:a="http://schemas.openxmlformats.org/drawingml/2006/main">
            <a:off x="540000" y="4608000"/>
            <a:ext cx="10800000" cy="540000"/>
          </a:xfrm>
          <a:prstGeom xmlns:a="http://schemas.openxmlformats.org/drawingml/2006/main" prst="rect">
            <a:avLst/>
          </a:prstGeom>
          <a:solidFill xmlns:a="http://schemas.openxmlformats.org/drawingml/2006/main">
            <a:srgbClr val="FFF8E1"/>
          </a:solidFill>
        </p:spPr>
        <p:txBody>
          <a:bodyPr xmlns:a="http://schemas.openxmlformats.org/drawingml/2006/main"/>
          <a:lstStyle xmlns:a="http://schemas.openxmlformats.org/drawingml/2006/main"/>
          <a:p xmlns:a="http://schemas.openxmlformats.org/drawingml/2006/main">
            <a:r>
              <a:rPr lang="en-US" sz="1200" b="0">
                <a:solidFill>
                  <a:srgbClr val="5A4700"/>
                </a:solidFill>
              </a:rPr>
              <a:t>MEDICAL DISCLAIMER — appended to every plan: "This nutrition plan is generated by an AI assistant for general informational purposes only. Always consult a registered dietitian or qualified healthcare provider."</a:t>
            </a:r>
          </a:p>
        </p:txBody>
      </p:sp>
      <p:sp>
        <p:nvSpPr>
          <p:cNvPr id="100095" name="BottomLine"/>
          <p:cNvSpPr txBox="1"/>
          <p:nvPr/>
        </p:nvSpPr>
        <p:spPr>
          <a:xfrm xmlns:a="http://schemas.openxmlformats.org/drawingml/2006/main">
            <a:off x="0" y="6408000"/>
            <a:ext cx="12193200" cy="432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1200">
                <a:solidFill>
                  <a:srgbClr val="FFFFFF"/>
                </a:solidFill>
              </a:rPr>
              <a:t>agent/granite_agent.py: _apply_guardrails()  |  COMPILED_GUARDS  |  MEDICAL_DISCLAIMER constant</a:t>
            </a:r>
          </a:p>
        </p:txBody>
      </p:sp>
    </p:spTree>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96" name="TopBar"/>
          <p:cNvSpPr txBox="1"/>
          <p:nvPr/>
        </p:nvSpPr>
        <p:spPr>
          <a:xfrm xmlns:a="http://schemas.openxmlformats.org/drawingml/2006/main">
            <a:off x="0" y="0"/>
            <a:ext cx="12193200" cy="288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100" b="1">
                <a:solidFill>
                  <a:srgbClr val="FFFFFF"/>
                </a:solidFill>
              </a:rPr>
              <a:t>NutriGuide AI  |  API Reference</a:t>
            </a:r>
          </a:p>
        </p:txBody>
      </p:sp>
      <p:sp>
        <p:nvSpPr>
          <p:cNvPr id="100097" name="Title"/>
          <p:cNvSpPr txBox="1"/>
          <p:nvPr/>
        </p:nvSpPr>
        <p:spPr>
          <a:xfrm xmlns:a="http://schemas.openxmlformats.org/drawingml/2006/main">
            <a:off x="540000" y="432000"/>
            <a:ext cx="1080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0F3460"/>
                </a:solidFill>
              </a:rPr>
              <a:t>REST API Reference — 6 Endpoints</a:t>
            </a:r>
          </a:p>
        </p:txBody>
      </p:sp>
      <p:sp>
        <p:nvSpPr>
          <p:cNvPr id="100098" name="Divider"/>
          <p:cNvSpPr txBox="1"/>
          <p:nvPr/>
        </p:nvSpPr>
        <p:spPr>
          <a:xfrm xmlns:a="http://schemas.openxmlformats.org/drawingml/2006/main">
            <a:off x="540000" y="936000"/>
            <a:ext cx="10800000" cy="288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p:txBody>
      </p:sp>
      <p:sp>
        <p:nvSpPr>
          <p:cNvPr id="100099" name="EP1"/>
          <p:cNvSpPr txBox="1"/>
          <p:nvPr/>
        </p:nvSpPr>
        <p:spPr>
          <a:xfrm xmlns:a="http://schemas.openxmlformats.org/drawingml/2006/main">
            <a:off x="540000" y="1044000"/>
            <a:ext cx="10800000" cy="648000"/>
          </a:xfrm>
          <a:prstGeom xmlns:a="http://schemas.openxmlformats.org/drawingml/2006/main" prst="rect">
            <a:avLst/>
          </a:prstGeom>
          <a:solidFill xmlns:a="http://schemas.openxmlformats.org/drawingml/2006/main">
            <a:srgbClr val="E8F4FD"/>
          </a:solidFill>
        </p:spPr>
        <p:txBody>
          <a:bodyPr xmlns:a="http://schemas.openxmlformats.org/drawingml/2006/main"/>
          <a:lstStyle xmlns:a="http://schemas.openxmlformats.org/drawingml/2006/main"/>
          <a:p xmlns:a="http://schemas.openxmlformats.org/drawingml/2006/main">
            <a:r>
              <a:rPr lang="en-US" sz="1200" b="0">
                <a:solidFill>
                  <a:srgbClr val="1F2328"/>
                </a:solidFill>
              </a:rPr>
              <a:t>GET  /health</a:t>
            </a:r>
          </a:p>
          <a:p xmlns:a="http://schemas.openxmlformats.org/drawingml/2006/main">
            <a:r>
              <a:rPr lang="en-US" sz="1200" b="0">
                <a:solidFill>
                  <a:srgbClr val="1F2328"/>
                </a:solidFill>
              </a:rPr>
              <a:t>Returns server status, model name, demo mode flag, version.</a:t>
            </a:r>
          </a:p>
          <a:p xmlns:a="http://schemas.openxmlformats.org/drawingml/2006/main">
            <a:r>
              <a:rPr lang="en-US" sz="1200" b="0">
                <a:solidFill>
                  <a:srgbClr val="1F2328"/>
                </a:solidFill>
              </a:rPr>
              <a:t>Response: { status, model, demo_mode, timestamp, version }</a:t>
            </a:r>
          </a:p>
        </p:txBody>
      </p:sp>
      <p:sp>
        <p:nvSpPr>
          <p:cNvPr id="100100" name="EP2"/>
          <p:cNvSpPr txBox="1"/>
          <p:nvPr/>
        </p:nvSpPr>
        <p:spPr>
          <a:xfrm xmlns:a="http://schemas.openxmlformats.org/drawingml/2006/main">
            <a:off x="540000" y="1764000"/>
            <a:ext cx="10800000" cy="828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1200" b="0">
                <a:solidFill>
                  <a:srgbClr val="FFFFFF"/>
                </a:solidFill>
              </a:rPr>
              <a:t>POST  /api/generate-plan</a:t>
            </a:r>
          </a:p>
          <a:p xmlns:a="http://schemas.openxmlformats.org/drawingml/2006/main">
            <a:r>
              <a:rPr lang="en-US" sz="1200" b="0">
                <a:solidFill>
                  <a:srgbClr val="FFFFFF"/>
                </a:solidFill>
              </a:rPr>
              <a:t>Input: { name, age, weight, height, city, country, diet_preference, goal, activity_level, medical_history, allergies }</a:t>
            </a:r>
          </a:p>
          <a:p xmlns:a="http://schemas.openxmlformats.org/drawingml/2006/main">
            <a:r>
              <a:rPr lang="en-US" sz="1200" b="0">
                <a:solidFill>
                  <a:srgbClr val="FFFFFF"/>
                </a:solidFill>
              </a:rPr>
              <a:t>Output: { status, plan (markdown), user_name, generated_at, model, saved_file, guardrail_warnings, is_demo }</a:t>
            </a:r>
          </a:p>
        </p:txBody>
      </p:sp>
      <p:sp>
        <p:nvSpPr>
          <p:cNvPr id="100101" name="EP3"/>
          <p:cNvSpPr txBox="1"/>
          <p:nvPr/>
        </p:nvSpPr>
        <p:spPr>
          <a:xfrm xmlns:a="http://schemas.openxmlformats.org/drawingml/2006/main">
            <a:off x="540000" y="2664000"/>
            <a:ext cx="10800000" cy="648000"/>
          </a:xfrm>
          <a:prstGeom xmlns:a="http://schemas.openxmlformats.org/drawingml/2006/main" prst="rect">
            <a:avLst/>
          </a:prstGeom>
          <a:solidFill xmlns:a="http://schemas.openxmlformats.org/drawingml/2006/main">
            <a:srgbClr val="F0FFF0"/>
          </a:solidFill>
        </p:spPr>
        <p:txBody>
          <a:bodyPr xmlns:a="http://schemas.openxmlformats.org/drawingml/2006/main"/>
          <a:lstStyle xmlns:a="http://schemas.openxmlformats.org/drawingml/2006/main"/>
          <a:p xmlns:a="http://schemas.openxmlformats.org/drawingml/2006/main">
            <a:r>
              <a:rPr lang="en-US" sz="1200" b="0">
                <a:solidFill>
                  <a:srgbClr val="1F2328"/>
                </a:solidFill>
              </a:rPr>
              <a:t>POST  /api/query</a:t>
            </a:r>
          </a:p>
          <a:p xmlns:a="http://schemas.openxmlformats.org/drawingml/2006/main">
            <a:r>
              <a:rPr lang="en-US" sz="1200" b="0">
                <a:solidFill>
                  <a:srgbClr val="1F2328"/>
                </a:solidFill>
              </a:rPr>
              <a:t>Input: { question, user_context (optional) }</a:t>
            </a:r>
          </a:p>
          <a:p xmlns:a="http://schemas.openxmlformats.org/drawingml/2006/main">
            <a:r>
              <a:rPr lang="en-US" sz="1200" b="0">
                <a:solidFill>
                  <a:srgbClr val="1F2328"/>
                </a:solidFill>
              </a:rPr>
              <a:t>Output: { status, answer, query, model, guardrail_warnings, is_demo }</a:t>
            </a:r>
          </a:p>
        </p:txBody>
      </p:sp>
      <p:sp>
        <p:nvSpPr>
          <p:cNvPr id="100102" name="EP4"/>
          <p:cNvSpPr txBox="1"/>
          <p:nvPr/>
        </p:nvSpPr>
        <p:spPr>
          <a:xfrm xmlns:a="http://schemas.openxmlformats.org/drawingml/2006/main">
            <a:off x="540000" y="3384000"/>
            <a:ext cx="5220000" cy="648000"/>
          </a:xfrm>
          <a:prstGeom xmlns:a="http://schemas.openxmlformats.org/drawingml/2006/main" prst="rect">
            <a:avLst/>
          </a:prstGeom>
          <a:solidFill xmlns:a="http://schemas.openxmlformats.org/drawingml/2006/main">
            <a:srgbClr val="FFF8E1"/>
          </a:solidFill>
        </p:spPr>
        <p:txBody>
          <a:bodyPr xmlns:a="http://schemas.openxmlformats.org/drawingml/2006/main"/>
          <a:lstStyle xmlns:a="http://schemas.openxmlformats.org/drawingml/2006/main"/>
          <a:p xmlns:a="http://schemas.openxmlformats.org/drawingml/2006/main">
            <a:r>
              <a:rPr lang="en-US" sz="1200" b="0">
                <a:solidFill>
                  <a:srgbClr val="1F2328"/>
                </a:solidFill>
              </a:rPr>
              <a:t>POST  /api/save-plan</a:t>
            </a:r>
          </a:p>
          <a:p xmlns:a="http://schemas.openxmlformats.org/drawingml/2006/main">
            <a:r>
              <a:rPr lang="en-US" sz="1200" b="0">
                <a:solidFill>
                  <a:srgbClr val="1F2328"/>
                </a:solidFill>
              </a:rPr>
              <a:t>Input: { plan (markdown text), user_data }</a:t>
            </a:r>
          </a:p>
          <a:p xmlns:a="http://schemas.openxmlformats.org/drawingml/2006/main">
            <a:r>
              <a:rPr lang="en-US" sz="1200" b="0">
                <a:solidFill>
                  <a:srgbClr val="1F2328"/>
                </a:solidFill>
              </a:rPr>
              <a:t>Output: { status: saved, filename }</a:t>
            </a:r>
          </a:p>
        </p:txBody>
      </p:sp>
      <p:sp>
        <p:nvSpPr>
          <p:cNvPr id="100103" name="EP5"/>
          <p:cNvSpPr txBox="1"/>
          <p:nvPr/>
        </p:nvSpPr>
        <p:spPr>
          <a:xfrm xmlns:a="http://schemas.openxmlformats.org/drawingml/2006/main">
            <a:off x="6120000" y="3384000"/>
            <a:ext cx="5328000" cy="648000"/>
          </a:xfrm>
          <a:prstGeom xmlns:a="http://schemas.openxmlformats.org/drawingml/2006/main" prst="rect">
            <a:avLst/>
          </a:prstGeom>
          <a:solidFill xmlns:a="http://schemas.openxmlformats.org/drawingml/2006/main">
            <a:srgbClr val="FFF8E1"/>
          </a:solidFill>
        </p:spPr>
        <p:txBody>
          <a:bodyPr xmlns:a="http://schemas.openxmlformats.org/drawingml/2006/main"/>
          <a:lstStyle xmlns:a="http://schemas.openxmlformats.org/drawingml/2006/main"/>
          <a:p xmlns:a="http://schemas.openxmlformats.org/drawingml/2006/main">
            <a:r>
              <a:rPr lang="en-US" sz="1200" b="0">
                <a:solidFill>
                  <a:srgbClr val="1F2328"/>
                </a:solidFill>
              </a:rPr>
              <a:t>GET  /api/plans</a:t>
            </a:r>
          </a:p>
          <a:p xmlns:a="http://schemas.openxmlformats.org/drawingml/2006/main">
            <a:r>
              <a:rPr lang="en-US" sz="1200" b="0">
                <a:solidFill>
                  <a:srgbClr val="1F2328"/>
                </a:solidFill>
              </a:rPr>
              <a:t>Returns list of all saved .md files:</a:t>
            </a:r>
          </a:p>
          <a:p xmlns:a="http://schemas.openxmlformats.org/drawingml/2006/main">
            <a:r>
              <a:rPr lang="en-US" sz="1200" b="0">
                <a:solidFill>
                  <a:srgbClr val="1F2328"/>
                </a:solidFill>
              </a:rPr>
              <a:t>{ plans: [ { filename, size_bytes, created } ] }</a:t>
            </a:r>
          </a:p>
        </p:txBody>
      </p:sp>
      <p:sp>
        <p:nvSpPr>
          <p:cNvPr id="100104" name="EP6"/>
          <p:cNvSpPr txBox="1"/>
          <p:nvPr/>
        </p:nvSpPr>
        <p:spPr>
          <a:xfrm xmlns:a="http://schemas.openxmlformats.org/drawingml/2006/main">
            <a:off x="540000" y="4104000"/>
            <a:ext cx="10800000" cy="540000"/>
          </a:xfrm>
          <a:prstGeom xmlns:a="http://schemas.openxmlformats.org/drawingml/2006/main" prst="rect">
            <a:avLst/>
          </a:prstGeom>
          <a:solidFill xmlns:a="http://schemas.openxmlformats.org/drawingml/2006/main">
            <a:srgbClr val="E8F4FD"/>
          </a:solidFill>
        </p:spPr>
        <p:txBody>
          <a:bodyPr xmlns:a="http://schemas.openxmlformats.org/drawingml/2006/main"/>
          <a:lstStyle xmlns:a="http://schemas.openxmlformats.org/drawingml/2006/main"/>
          <a:p xmlns:a="http://schemas.openxmlformats.org/drawingml/2006/main">
            <a:r>
              <a:rPr lang="en-US" sz="1200" b="0">
                <a:solidFill>
                  <a:srgbClr val="1F2328"/>
                </a:solidFill>
              </a:rPr>
              <a:t>GET  /api/plans/&lt;filename&gt;</a:t>
            </a:r>
          </a:p>
          <a:p xmlns:a="http://schemas.openxmlformats.org/drawingml/2006/main">
            <a:r>
              <a:rPr lang="en-US" sz="1200" b="0">
                <a:solidFill>
                  <a:srgbClr val="1F2328"/>
                </a:solidFill>
              </a:rPr>
              <a:t>Downloads a saved nutrition plan .md file as attachment.  Safe filename sanitisation applied.</a:t>
            </a:r>
          </a:p>
        </p:txBody>
      </p:sp>
      <p:sp>
        <p:nvSpPr>
          <p:cNvPr id="100105" name="Security"/>
          <p:cNvSpPr txBox="1"/>
          <p:nvPr/>
        </p:nvSpPr>
        <p:spPr>
          <a:xfrm xmlns:a="http://schemas.openxmlformats.org/drawingml/2006/main">
            <a:off x="540000" y="4752000"/>
            <a:ext cx="10800000" cy="324000"/>
          </a:xfrm>
          <a:prstGeom xmlns:a="http://schemas.openxmlformats.org/drawingml/2006/main" prst="rect">
            <a:avLst/>
          </a:prstGeom>
          <a:solidFill xmlns:a="http://schemas.openxmlformats.org/drawingml/2006/main">
            <a:srgbClr val="DA1E28"/>
          </a:solidFill>
        </p:spPr>
        <p:txBody>
          <a:bodyPr xmlns:a="http://schemas.openxmlformats.org/drawingml/2006/main"/>
          <a:lstStyle xmlns:a="http://schemas.openxmlformats.org/drawingml/2006/main"/>
          <a:p xmlns:a="http://schemas.openxmlformats.org/drawingml/2006/main">
            <a:r>
              <a:rPr lang="en-US" sz="1200" b="0">
                <a:solidFill>
                  <a:srgbClr val="FFFFFF"/>
                </a:solidFill>
              </a:rPr>
              <a:t>SECURITY: All inputs sanitised (strip &lt;|&gt; tokens, HTML tags, 500-char cap)  |  Age validation 1–120  |  Safe filename regex on download</a:t>
            </a:r>
          </a:p>
        </p:txBody>
      </p:sp>
      <p:sp>
        <p:nvSpPr>
          <p:cNvPr id="100106" name="BottomLine"/>
          <p:cNvSpPr txBox="1"/>
          <p:nvPr/>
        </p:nvSpPr>
        <p:spPr>
          <a:xfrm xmlns:a="http://schemas.openxmlformats.org/drawingml/2006/main">
            <a:off x="0" y="6408000"/>
            <a:ext cx="12193200" cy="432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1200">
                <a:solidFill>
                  <a:srgbClr val="FFFFFF"/>
                </a:solidFill>
              </a:rPr>
              <a:t>app.py — Flask routes  |  Input validation  |  CORS enabled  |  JSON responses</a:t>
            </a:r>
          </a:p>
        </p:txBody>
      </p:sp>
    </p:spTree>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07" name="TopBar"/>
          <p:cNvSpPr txBox="1"/>
          <p:nvPr/>
        </p:nvSpPr>
        <p:spPr>
          <a:xfrm xmlns:a="http://schemas.openxmlformats.org/drawingml/2006/main">
            <a:off x="0" y="0"/>
            <a:ext cx="12193200" cy="288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100" b="1">
                <a:solidFill>
                  <a:srgbClr val="FFFFFF"/>
                </a:solidFill>
              </a:rPr>
              <a:t>NutriGuide AI  |  Technology Stack</a:t>
            </a:r>
          </a:p>
        </p:txBody>
      </p:sp>
      <p:sp>
        <p:nvSpPr>
          <p:cNvPr id="100108" name="Title"/>
          <p:cNvSpPr txBox="1"/>
          <p:nvPr/>
        </p:nvSpPr>
        <p:spPr>
          <a:xfrm xmlns:a="http://schemas.openxmlformats.org/drawingml/2006/main">
            <a:off x="540000" y="432000"/>
            <a:ext cx="1080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0F3460"/>
                </a:solidFill>
              </a:rPr>
              <a:t>Technology Stack &amp; Project Structure</a:t>
            </a:r>
          </a:p>
        </p:txBody>
      </p:sp>
      <p:sp>
        <p:nvSpPr>
          <p:cNvPr id="100109" name="Divider"/>
          <p:cNvSpPr txBox="1"/>
          <p:nvPr/>
        </p:nvSpPr>
        <p:spPr>
          <a:xfrm xmlns:a="http://schemas.openxmlformats.org/drawingml/2006/main">
            <a:off x="540000" y="936000"/>
            <a:ext cx="10800000" cy="288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p:txBody>
      </p:sp>
      <p:sp>
        <p:nvSpPr>
          <p:cNvPr id="100110" name="T1"/>
          <p:cNvSpPr txBox="1"/>
          <p:nvPr/>
        </p:nvSpPr>
        <p:spPr>
          <a:xfrm xmlns:a="http://schemas.openxmlformats.org/drawingml/2006/main">
            <a:off x="540000" y="1080000"/>
            <a:ext cx="1980000" cy="1800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1300" b="0">
                <a:solidFill>
                  <a:srgbClr val="FFFFFF"/>
                </a:solidFill>
              </a:rPr>
              <a:t>AI MODEL</a:t>
            </a:r>
          </a:p>
          <a:p xmlns:a="http://schemas.openxmlformats.org/drawingml/2006/main">
            <a:r>
              <a:rPr lang="en-US" sz="1300" b="0">
                <a:solidFill>
                  <a:srgbClr val="FFFFFF"/>
                </a:solidFill>
              </a:rPr>
              <a:t>IBM Granite 13B</a:t>
            </a:r>
          </a:p>
          <a:p xmlns:a="http://schemas.openxmlformats.org/drawingml/2006/main">
            <a:r>
              <a:rPr lang="en-US" sz="1300" b="0">
                <a:solidFill>
                  <a:srgbClr val="FFFFFF"/>
                </a:solidFill>
              </a:rPr>
              <a:t>Instruct v2</a:t>
            </a:r>
          </a:p>
          <a:p xmlns:a="http://schemas.openxmlformats.org/drawingml/2006/main">
            <a:r>
              <a:rPr lang="en-US" sz="1300" b="0">
                <a:solidFill>
                  <a:srgbClr val="FFFFFF"/>
                </a:solidFill>
              </a:rPr>
              <a:t>ibm/granite-13b</a:t>
            </a:r>
          </a:p>
          <a:p xmlns:a="http://schemas.openxmlformats.org/drawingml/2006/main">
            <a:r>
              <a:rPr lang="en-US" sz="1300" b="0">
                <a:solidFill>
                  <a:srgbClr val="FFFFFF"/>
                </a:solidFill>
              </a:rPr>
              <a:t>-instruct-v2</a:t>
            </a:r>
          </a:p>
        </p:txBody>
      </p:sp>
      <p:sp>
        <p:nvSpPr>
          <p:cNvPr id="100111" name="T2"/>
          <p:cNvSpPr txBox="1"/>
          <p:nvPr/>
        </p:nvSpPr>
        <p:spPr>
          <a:xfrm xmlns:a="http://schemas.openxmlformats.org/drawingml/2006/main">
            <a:off x="2700000" y="1080000"/>
            <a:ext cx="1980000" cy="180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300" b="0">
                <a:solidFill>
                  <a:srgbClr val="FFFFFF"/>
                </a:solidFill>
              </a:rPr>
              <a:t>AI PLATFORM</a:t>
            </a:r>
          </a:p>
          <a:p xmlns:a="http://schemas.openxmlformats.org/drawingml/2006/main">
            <a:r>
              <a:rPr lang="en-US" sz="1300" b="0">
                <a:solidFill>
                  <a:srgbClr val="FFFFFF"/>
                </a:solidFill>
              </a:rPr>
              <a:t>IBM watsonx.ai</a:t>
            </a:r>
          </a:p>
          <a:p xmlns:a="http://schemas.openxmlformats.org/drawingml/2006/main">
            <a:r>
              <a:rPr lang="en-US" sz="1300" b="0">
                <a:solidFill>
                  <a:srgbClr val="FFFFFF"/>
                </a:solidFill>
              </a:rPr>
              <a:t>Enterprise</a:t>
            </a:r>
          </a:p>
          <a:p xmlns:a="http://schemas.openxmlformats.org/drawingml/2006/main">
            <a:r>
              <a:rPr lang="en-US" sz="1300" b="0">
                <a:solidFill>
                  <a:srgbClr val="FFFFFF"/>
                </a:solidFill>
              </a:rPr>
              <a:t>Governance</a:t>
            </a:r>
          </a:p>
          <a:p xmlns:a="http://schemas.openxmlformats.org/drawingml/2006/main">
            <a:r>
              <a:rPr lang="en-US" sz="1300" b="0">
                <a:solidFill>
                  <a:srgbClr val="FFFFFF"/>
                </a:solidFill>
              </a:rPr>
              <a:t>SDK v1.8.0</a:t>
            </a:r>
          </a:p>
        </p:txBody>
      </p:sp>
      <p:sp>
        <p:nvSpPr>
          <p:cNvPr id="100112" name="T3"/>
          <p:cNvSpPr txBox="1"/>
          <p:nvPr/>
        </p:nvSpPr>
        <p:spPr>
          <a:xfrm xmlns:a="http://schemas.openxmlformats.org/drawingml/2006/main">
            <a:off x="4860000" y="1080000"/>
            <a:ext cx="1980000" cy="1800000"/>
          </a:xfrm>
          <a:prstGeom xmlns:a="http://schemas.openxmlformats.org/drawingml/2006/main" prst="rect">
            <a:avLst/>
          </a:prstGeom>
          <a:solidFill xmlns:a="http://schemas.openxmlformats.org/drawingml/2006/main">
            <a:srgbClr val="E8F4FD"/>
          </a:solidFill>
        </p:spPr>
        <p:txBody>
          <a:bodyPr xmlns:a="http://schemas.openxmlformats.org/drawingml/2006/main"/>
          <a:lstStyle xmlns:a="http://schemas.openxmlformats.org/drawingml/2006/main"/>
          <a:p xmlns:a="http://schemas.openxmlformats.org/drawingml/2006/main">
            <a:r>
              <a:rPr lang="en-US" sz="1300" b="0">
                <a:solidFill>
                  <a:srgbClr val="1F2328"/>
                </a:solidFill>
              </a:rPr>
              <a:t>BACKEND</a:t>
            </a:r>
          </a:p>
          <a:p xmlns:a="http://schemas.openxmlformats.org/drawingml/2006/main">
            <a:r>
              <a:rPr lang="en-US" sz="1300" b="0">
                <a:solidFill>
                  <a:srgbClr val="1F2328"/>
                </a:solidFill>
              </a:rPr>
              <a:t>Python 3.13</a:t>
            </a:r>
          </a:p>
          <a:p xmlns:a="http://schemas.openxmlformats.org/drawingml/2006/main">
            <a:r>
              <a:rPr lang="en-US" sz="1300" b="0">
                <a:solidFill>
                  <a:srgbClr val="1F2328"/>
                </a:solidFill>
              </a:rPr>
              <a:t>Flask 3.0.3</a:t>
            </a:r>
          </a:p>
          <a:p xmlns:a="http://schemas.openxmlformats.org/drawingml/2006/main">
            <a:r>
              <a:rPr lang="en-US" sz="1300" b="0">
                <a:solidFill>
                  <a:srgbClr val="1F2328"/>
                </a:solidFill>
              </a:rPr>
              <a:t>Flask-CORS</a:t>
            </a:r>
          </a:p>
          <a:p xmlns:a="http://schemas.openxmlformats.org/drawingml/2006/main">
            <a:r>
              <a:rPr lang="en-US" sz="1300" b="0">
                <a:solidFill>
                  <a:srgbClr val="1F2328"/>
                </a:solidFill>
              </a:rPr>
              <a:t>python-dotenv</a:t>
            </a:r>
          </a:p>
        </p:txBody>
      </p:sp>
      <p:sp>
        <p:nvSpPr>
          <p:cNvPr id="100113" name="T4"/>
          <p:cNvSpPr txBox="1"/>
          <p:nvPr/>
        </p:nvSpPr>
        <p:spPr>
          <a:xfrm xmlns:a="http://schemas.openxmlformats.org/drawingml/2006/main">
            <a:off x="7020000" y="1080000"/>
            <a:ext cx="1980000" cy="1800000"/>
          </a:xfrm>
          <a:prstGeom xmlns:a="http://schemas.openxmlformats.org/drawingml/2006/main" prst="rect">
            <a:avLst/>
          </a:prstGeom>
          <a:solidFill xmlns:a="http://schemas.openxmlformats.org/drawingml/2006/main">
            <a:srgbClr val="F4F4F4"/>
          </a:solidFill>
        </p:spPr>
        <p:txBody>
          <a:bodyPr xmlns:a="http://schemas.openxmlformats.org/drawingml/2006/main"/>
          <a:lstStyle xmlns:a="http://schemas.openxmlformats.org/drawingml/2006/main"/>
          <a:p xmlns:a="http://schemas.openxmlformats.org/drawingml/2006/main">
            <a:r>
              <a:rPr lang="en-US" sz="1300" b="0">
                <a:solidFill>
                  <a:srgbClr val="1F2328"/>
                </a:solidFill>
              </a:rPr>
              <a:t>FRONTEND</a:t>
            </a:r>
          </a:p>
          <a:p xmlns:a="http://schemas.openxmlformats.org/drawingml/2006/main">
            <a:r>
              <a:rPr lang="en-US" sz="1300" b="0">
                <a:solidFill>
                  <a:srgbClr val="1F2328"/>
                </a:solidFill>
              </a:rPr>
              <a:t>HTML5 + CSS3</a:t>
            </a:r>
          </a:p>
          <a:p xmlns:a="http://schemas.openxmlformats.org/drawingml/2006/main">
            <a:r>
              <a:rPr lang="en-US" sz="1300" b="0">
                <a:solidFill>
                  <a:srgbClr val="1F2328"/>
                </a:solidFill>
              </a:rPr>
              <a:t>Vanilla JS</a:t>
            </a:r>
          </a:p>
          <a:p xmlns:a="http://schemas.openxmlformats.org/drawingml/2006/main">
            <a:r>
              <a:rPr lang="en-US" sz="1300" b="0">
                <a:solidFill>
                  <a:srgbClr val="1F2328"/>
                </a:solidFill>
              </a:rPr>
              <a:t>IBM Carbon</a:t>
            </a:r>
          </a:p>
          <a:p xmlns:a="http://schemas.openxmlformats.org/drawingml/2006/main">
            <a:r>
              <a:rPr lang="en-US" sz="1300" b="0">
                <a:solidFill>
                  <a:srgbClr val="1F2328"/>
                </a:solidFill>
              </a:rPr>
              <a:t>Design inspired</a:t>
            </a:r>
          </a:p>
        </p:txBody>
      </p:sp>
      <p:sp>
        <p:nvSpPr>
          <p:cNvPr id="100114" name="T5"/>
          <p:cNvSpPr txBox="1"/>
          <p:nvPr/>
        </p:nvSpPr>
        <p:spPr>
          <a:xfrm xmlns:a="http://schemas.openxmlformats.org/drawingml/2006/main">
            <a:off x="9180000" y="1080000"/>
            <a:ext cx="2232000" cy="1800000"/>
          </a:xfrm>
          <a:prstGeom xmlns:a="http://schemas.openxmlformats.org/drawingml/2006/main" prst="rect">
            <a:avLst/>
          </a:prstGeom>
          <a:solidFill xmlns:a="http://schemas.openxmlformats.org/drawingml/2006/main">
            <a:srgbClr val="198038"/>
          </a:solidFill>
        </p:spPr>
        <p:txBody>
          <a:bodyPr xmlns:a="http://schemas.openxmlformats.org/drawingml/2006/main"/>
          <a:lstStyle xmlns:a="http://schemas.openxmlformats.org/drawingml/2006/main"/>
          <a:p xmlns:a="http://schemas.openxmlformats.org/drawingml/2006/main">
            <a:r>
              <a:rPr lang="en-US" sz="1300" b="0">
                <a:solidFill>
                  <a:srgbClr val="FFFFFF"/>
                </a:solidFill>
              </a:rPr>
              <a:t>DATA</a:t>
            </a:r>
          </a:p>
          <a:p xmlns:a="http://schemas.openxmlformats.org/drawingml/2006/main">
            <a:r>
              <a:rPr lang="en-US" sz="1300" b="0">
                <a:solidFill>
                  <a:srgbClr val="FFFFFF"/>
                </a:solidFill>
              </a:rPr>
              <a:t>pandas 2.3.3</a:t>
            </a:r>
          </a:p>
          <a:p xmlns:a="http://schemas.openxmlformats.org/drawingml/2006/main">
            <a:r>
              <a:rPr lang="en-US" sz="1300" b="0">
                <a:solidFill>
                  <a:srgbClr val="FFFFFF"/>
                </a:solidFill>
              </a:rPr>
              <a:t>numpy 2.5.4</a:t>
            </a:r>
          </a:p>
          <a:p xmlns:a="http://schemas.openxmlformats.org/drawingml/2006/main">
            <a:r>
              <a:rPr lang="en-US" sz="1300" b="0">
                <a:solidFill>
                  <a:srgbClr val="FFFFFF"/>
                </a:solidFill>
              </a:rPr>
              <a:t>tabulate</a:t>
            </a:r>
          </a:p>
          <a:p xmlns:a="http://schemas.openxmlformats.org/drawingml/2006/main">
            <a:r>
              <a:rPr lang="en-US" sz="1300" b="0">
                <a:solidFill>
                  <a:srgbClr val="FFFFFF"/>
                </a:solidFill>
              </a:rPr>
              <a:t>Markdown .md</a:t>
            </a:r>
          </a:p>
        </p:txBody>
      </p:sp>
      <p:sp>
        <p:nvSpPr>
          <p:cNvPr id="100115" name="FilesHdr"/>
          <p:cNvSpPr txBox="1"/>
          <p:nvPr/>
        </p:nvSpPr>
        <p:spPr>
          <a:xfrm xmlns:a="http://schemas.openxmlformats.org/drawingml/2006/main">
            <a:off x="540000" y="2988000"/>
            <a:ext cx="10800000" cy="252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1300" b="1">
                <a:solidFill>
                  <a:srgbClr val="FFFFFF"/>
                </a:solidFill>
              </a:rPr>
              <a:t>PROJECT FILES (13 committed to GitHub)</a:t>
            </a:r>
          </a:p>
        </p:txBody>
      </p:sp>
      <p:sp>
        <p:nvSpPr>
          <p:cNvPr id="100116" name="Files"/>
          <p:cNvSpPr txBox="1"/>
          <p:nvPr/>
        </p:nvSpPr>
        <p:spPr>
          <a:xfrm xmlns:a="http://schemas.openxmlformats.org/drawingml/2006/main">
            <a:off x="540000" y="3276000"/>
            <a:ext cx="10800000" cy="2160000"/>
          </a:xfrm>
          <a:prstGeom xmlns:a="http://schemas.openxmlformats.org/drawingml/2006/main" prst="rect">
            <a:avLst/>
          </a:prstGeom>
          <a:solidFill xmlns:a="http://schemas.openxmlformats.org/drawingml/2006/main">
            <a:srgbClr val="FAFAFA"/>
          </a:solidFill>
        </p:spPr>
        <p:txBody>
          <a:bodyPr xmlns:a="http://schemas.openxmlformats.org/drawingml/2006/main"/>
          <a:lstStyle xmlns:a="http://schemas.openxmlformats.org/drawingml/2006/main"/>
          <a:p xmlns:a="http://schemas.openxmlformats.org/drawingml/2006/main">
            <a:r>
              <a:rPr lang="en-US" sz="1100" b="0">
                <a:solidFill>
                  <a:srgbClr val="1F2328"/>
                </a:solidFill>
              </a:rPr>
              <a:t>app.py                  Flask backend, 6 REST API routes</a:t>
            </a:r>
          </a:p>
          <a:p xmlns:a="http://schemas.openxmlformats.org/drawingml/2006/main">
            <a:r>
              <a:rPr lang="en-US" sz="1100" b="0">
                <a:solidFill>
                  <a:srgbClr val="1F2328"/>
                </a:solidFill>
              </a:rPr>
              <a:t>agent/granite_agent.py  IBM Granite agent, guardrails, prompts</a:t>
            </a:r>
          </a:p>
          <a:p xmlns:a="http://schemas.openxmlformats.org/drawingml/2006/main">
            <a:r>
              <a:rPr lang="en-US" sz="1100" b="0">
                <a:solidFill>
                  <a:srgbClr val="1F2328"/>
                </a:solidFill>
              </a:rPr>
              <a:t>static/index.html       Full web UI — HTML5 + CSS3 + JS</a:t>
            </a:r>
          </a:p>
          <a:p xmlns:a="http://schemas.openxmlformats.org/drawingml/2006/main">
            <a:r>
              <a:rPr lang="en-US" sz="1100" b="0">
                <a:solidFill>
                  <a:srgbClr val="1F2328"/>
                </a:solidFill>
              </a:rPr>
              <a:t>requirements.txt        All 33 pinned Python packages</a:t>
            </a:r>
          </a:p>
          <a:p xmlns:a="http://schemas.openxmlformats.org/drawingml/2006/main">
            <a:r>
              <a:rPr lang="en-US" sz="1100" b="0">
                <a:solidFill>
                  <a:srgbClr val="1F2328"/>
                </a:solidFill>
              </a:rPr>
              <a:t>run.bat                 One-click Windows launcher</a:t>
            </a:r>
          </a:p>
          <a:p xmlns:a="http://schemas.openxmlformats.org/drawingml/2006/main">
            <a:r>
              <a:rPr lang="en-US" sz="1100" b="0">
                <a:solidFill>
                  <a:srgbClr val="1F2328"/>
                </a:solidFill>
              </a:rPr>
              <a:t>setup.bat               First-time setup wizard</a:t>
            </a:r>
          </a:p>
          <a:p xmlns:a="http://schemas.openxmlformats.org/drawingml/2006/main">
            <a:r>
              <a:rPr lang="en-US" sz="1100" b="0">
                <a:solidFill>
                  <a:srgbClr val="1F2328"/>
                </a:solidFill>
              </a:rPr>
              <a:t>.env.example            IBM credentials template</a:t>
            </a:r>
          </a:p>
          <a:p xmlns:a="http://schemas.openxmlformats.org/drawingml/2006/main">
            <a:r>
              <a:rPr lang="en-US" sz="1100" b="0">
                <a:solidFill>
                  <a:srgbClr val="1F2328"/>
                </a:solidFill>
              </a:rPr>
              <a:t>.gitignore              Excludes venv, .env, __pycache__, *.log</a:t>
            </a:r>
          </a:p>
          <a:p xmlns:a="http://schemas.openxmlformats.org/drawingml/2006/main">
            <a:r>
              <a:rPr lang="en-US" sz="1100" b="0">
                <a:solidFill>
                  <a:srgbClr val="1F2328"/>
                </a:solidFill>
              </a:rPr>
              <a:t>README.md               Full GitHub documentation with badges</a:t>
            </a:r>
          </a:p>
          <a:p xmlns:a="http://schemas.openxmlformats.org/drawingml/2006/main">
            <a:r>
              <a:rPr lang="en-US" sz="1100" b="0">
                <a:solidFill>
                  <a:srgbClr val="1F2328"/>
                </a:solidFill>
              </a:rPr>
              <a:t>AGENTIC_SDLC.md         7-phase SDLC documentation</a:t>
            </a:r>
          </a:p>
          <a:p xmlns:a="http://schemas.openxmlformats.org/drawingml/2006/main">
            <a:r>
              <a:rPr lang="en-US" sz="1100" b="0">
                <a:solidFill>
                  <a:srgbClr val="1F2328"/>
                </a:solidFill>
              </a:rPr>
              <a:t>LICENSE                 MIT License</a:t>
            </a:r>
          </a:p>
          <a:p xmlns:a="http://schemas.openxmlformats.org/drawingml/2006/main">
            <a:r>
              <a:rPr lang="en-US" sz="1100" b="0">
                <a:solidFill>
                  <a:srgbClr val="1F2328"/>
                </a:solidFill>
              </a:rPr>
              <a:t>agent/__init__.py        Package init</a:t>
            </a:r>
          </a:p>
          <a:p xmlns:a="http://schemas.openxmlformats.org/drawingml/2006/main">
            <a:r>
              <a:rPr lang="en-US" sz="1100" b="0">
                <a:solidFill>
                  <a:srgbClr val="1F2328"/>
                </a:solidFill>
              </a:rPr>
              <a:t>nutrition_plans/        Sample .md plan (1 file committed)</a:t>
            </a:r>
          </a:p>
        </p:txBody>
      </p:sp>
      <p:sp>
        <p:nvSpPr>
          <p:cNvPr id="100117" name="BottomLine"/>
          <p:cNvSpPr txBox="1"/>
          <p:nvPr/>
        </p:nvSpPr>
        <p:spPr>
          <a:xfrm xmlns:a="http://schemas.openxmlformats.org/drawingml/2006/main">
            <a:off x="0" y="6408000"/>
            <a:ext cx="12193200" cy="432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1200">
                <a:solidFill>
                  <a:srgbClr val="FFFFFF"/>
                </a:solidFill>
              </a:rPr>
              <a:t>2,969 lines of code  |  13 files  |  Python 3.13  |  MIT License</a:t>
            </a:r>
          </a:p>
        </p:txBody>
      </p:sp>
    </p:spTree>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18" name="TopBar"/>
          <p:cNvSpPr txBox="1"/>
          <p:nvPr/>
        </p:nvSpPr>
        <p:spPr>
          <a:xfrm xmlns:a="http://schemas.openxmlformats.org/drawingml/2006/main">
            <a:off x="0" y="0"/>
            <a:ext cx="12193200" cy="288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100" b="1">
                <a:solidFill>
                  <a:srgbClr val="FFFFFF"/>
                </a:solidFill>
              </a:rPr>
              <a:t>NutriGuide AI  |  Agentic AI SDLC</a:t>
            </a:r>
          </a:p>
        </p:txBody>
      </p:sp>
      <p:sp>
        <p:nvSpPr>
          <p:cNvPr id="100119" name="Title"/>
          <p:cNvSpPr txBox="1"/>
          <p:nvPr/>
        </p:nvSpPr>
        <p:spPr>
          <a:xfrm xmlns:a="http://schemas.openxmlformats.org/drawingml/2006/main">
            <a:off x="540000" y="432000"/>
            <a:ext cx="1080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0F3460"/>
                </a:solidFill>
              </a:rPr>
              <a:t>Agentic AI SDLC — 7 Phases</a:t>
            </a:r>
          </a:p>
        </p:txBody>
      </p:sp>
      <p:sp>
        <p:nvSpPr>
          <p:cNvPr id="100120" name="Divider"/>
          <p:cNvSpPr txBox="1"/>
          <p:nvPr/>
        </p:nvSpPr>
        <p:spPr>
          <a:xfrm xmlns:a="http://schemas.openxmlformats.org/drawingml/2006/main">
            <a:off x="540000" y="936000"/>
            <a:ext cx="10800000" cy="288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p:txBody>
      </p:sp>
      <p:sp>
        <p:nvSpPr>
          <p:cNvPr id="100121" name="P1"/>
          <p:cNvSpPr txBox="1"/>
          <p:nvPr/>
        </p:nvSpPr>
        <p:spPr>
          <a:xfrm xmlns:a="http://schemas.openxmlformats.org/drawingml/2006/main">
            <a:off x="540000" y="1080000"/>
            <a:ext cx="3240000" cy="1620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1200" b="0">
                <a:solidFill>
                  <a:srgbClr val="FFFFFF"/>
                </a:solidFill>
              </a:rPr>
              <a:t>1. REQUIREMENTS</a:t>
            </a:r>
          </a:p>
          <a:p xmlns:a="http://schemas.openxmlformats.org/drawingml/2006/main">
            <a:r>
              <a:rPr lang="en-US" sz="1200" b="0">
                <a:solidFill>
                  <a:srgbClr val="FFFFFF"/>
                </a:solidFill>
              </a:rPr>
              <a:t>FR-01 to FR-07 functional</a:t>
            </a:r>
          </a:p>
          <a:p xmlns:a="http://schemas.openxmlformats.org/drawingml/2006/main">
            <a:r>
              <a:rPr lang="en-US" sz="1200" b="0">
                <a:solidFill>
                  <a:srgbClr val="FFFFFF"/>
                </a:solidFill>
              </a:rPr>
              <a:t>NFR-01 to NFR-07 non-functional</a:t>
            </a:r>
          </a:p>
          <a:p xmlns:a="http://schemas.openxmlformats.org/drawingml/2006/main">
            <a:r>
              <a:rPr lang="en-US" sz="1200" b="0">
                <a:solidFill>
                  <a:srgbClr val="FFFFFF"/>
                </a:solidFill>
              </a:rPr>
              <a:t>Ethics + HAM + Guardrails</a:t>
            </a:r>
          </a:p>
        </p:txBody>
      </p:sp>
      <p:sp>
        <p:nvSpPr>
          <p:cNvPr id="100122" name="P2"/>
          <p:cNvSpPr txBox="1"/>
          <p:nvPr/>
        </p:nvSpPr>
        <p:spPr>
          <a:xfrm xmlns:a="http://schemas.openxmlformats.org/drawingml/2006/main">
            <a:off x="4140000" y="1080000"/>
            <a:ext cx="3240000" cy="162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200" b="0">
                <a:solidFill>
                  <a:srgbClr val="FFFFFF"/>
                </a:solidFill>
              </a:rPr>
              <a:t>2. SYSTEM DESIGN</a:t>
            </a:r>
          </a:p>
          <a:p xmlns:a="http://schemas.openxmlformats.org/drawingml/2006/main">
            <a:r>
              <a:rPr lang="en-US" sz="1200" b="0">
                <a:solidFill>
                  <a:srgbClr val="FFFFFF"/>
                </a:solidFill>
              </a:rPr>
              <a:t>4-layer architecture</a:t>
            </a:r>
          </a:p>
          <a:p xmlns:a="http://schemas.openxmlformats.org/drawingml/2006/main">
            <a:r>
              <a:rPr lang="en-US" sz="1200" b="0">
                <a:solidFill>
                  <a:srgbClr val="FFFFFF"/>
                </a:solidFill>
              </a:rPr>
              <a:t>ReAct agentic pipeline</a:t>
            </a:r>
          </a:p>
          <a:p xmlns:a="http://schemas.openxmlformats.org/drawingml/2006/main">
            <a:r>
              <a:rPr lang="en-US" sz="1200" b="0">
                <a:solidFill>
                  <a:srgbClr val="FFFFFF"/>
                </a:solidFill>
              </a:rPr>
              <a:t>API contract defined</a:t>
            </a:r>
          </a:p>
        </p:txBody>
      </p:sp>
      <p:sp>
        <p:nvSpPr>
          <p:cNvPr id="100123" name="P3"/>
          <p:cNvSpPr txBox="1"/>
          <p:nvPr/>
        </p:nvSpPr>
        <p:spPr>
          <a:xfrm xmlns:a="http://schemas.openxmlformats.org/drawingml/2006/main">
            <a:off x="7740000" y="1080000"/>
            <a:ext cx="3420000" cy="1620000"/>
          </a:xfrm>
          <a:prstGeom xmlns:a="http://schemas.openxmlformats.org/drawingml/2006/main" prst="rect">
            <a:avLst/>
          </a:prstGeom>
          <a:solidFill xmlns:a="http://schemas.openxmlformats.org/drawingml/2006/main">
            <a:srgbClr val="E8F4FD"/>
          </a:solidFill>
        </p:spPr>
        <p:txBody>
          <a:bodyPr xmlns:a="http://schemas.openxmlformats.org/drawingml/2006/main"/>
          <a:lstStyle xmlns:a="http://schemas.openxmlformats.org/drawingml/2006/main"/>
          <a:p xmlns:a="http://schemas.openxmlformats.org/drawingml/2006/main">
            <a:r>
              <a:rPr lang="en-US" sz="1200" b="0">
                <a:solidFill>
                  <a:srgbClr val="1F2328"/>
                </a:solidFill>
              </a:rPr>
              <a:t>3. IMPLEMENTATION</a:t>
            </a:r>
          </a:p>
          <a:p xmlns:a="http://schemas.openxmlformats.org/drawingml/2006/main">
            <a:r>
              <a:rPr lang="en-US" sz="1200" b="0">
                <a:solidFill>
                  <a:srgbClr val="1F2328"/>
                </a:solidFill>
              </a:rPr>
              <a:t>IBM Granite integration</a:t>
            </a:r>
          </a:p>
          <a:p xmlns:a="http://schemas.openxmlformats.org/drawingml/2006/main">
            <a:r>
              <a:rPr lang="en-US" sz="1200" b="0">
                <a:solidFill>
                  <a:srgbClr val="1F2328"/>
                </a:solidFill>
              </a:rPr>
              <a:t>Flask API + Web UI</a:t>
            </a:r>
          </a:p>
          <a:p xmlns:a="http://schemas.openxmlformats.org/drawingml/2006/main">
            <a:r>
              <a:rPr lang="en-US" sz="1200" b="0">
                <a:solidFill>
                  <a:srgbClr val="1F2328"/>
                </a:solidFill>
              </a:rPr>
              <a:t>Guardrails coded</a:t>
            </a:r>
          </a:p>
        </p:txBody>
      </p:sp>
      <p:sp>
        <p:nvSpPr>
          <p:cNvPr id="100124" name="P4"/>
          <p:cNvSpPr txBox="1"/>
          <p:nvPr/>
        </p:nvSpPr>
        <p:spPr>
          <a:xfrm xmlns:a="http://schemas.openxmlformats.org/drawingml/2006/main">
            <a:off x="540000" y="2988000"/>
            <a:ext cx="3240000" cy="1620000"/>
          </a:xfrm>
          <a:prstGeom xmlns:a="http://schemas.openxmlformats.org/drawingml/2006/main" prst="rect">
            <a:avLst/>
          </a:prstGeom>
          <a:solidFill xmlns:a="http://schemas.openxmlformats.org/drawingml/2006/main">
            <a:srgbClr val="F0FFF0"/>
          </a:solidFill>
        </p:spPr>
        <p:txBody>
          <a:bodyPr xmlns:a="http://schemas.openxmlformats.org/drawingml/2006/main"/>
          <a:lstStyle xmlns:a="http://schemas.openxmlformats.org/drawingml/2006/main"/>
          <a:p xmlns:a="http://schemas.openxmlformats.org/drawingml/2006/main">
            <a:r>
              <a:rPr lang="en-US" sz="1200" b="0">
                <a:solidFill>
                  <a:srgbClr val="1F2328"/>
                </a:solidFill>
              </a:rPr>
              <a:t>4. TESTING</a:t>
            </a:r>
          </a:p>
          <a:p xmlns:a="http://schemas.openxmlformats.org/drawingml/2006/main">
            <a:r>
              <a:rPr lang="en-US" sz="1200" b="0">
                <a:solidFill>
                  <a:srgbClr val="1F2328"/>
                </a:solidFill>
              </a:rPr>
              <a:t>Unit: guardrails, validation</a:t>
            </a:r>
          </a:p>
          <a:p xmlns:a="http://schemas.openxmlformats.org/drawingml/2006/main">
            <a:r>
              <a:rPr lang="en-US" sz="1200" b="0">
                <a:solidFill>
                  <a:srgbClr val="1F2328"/>
                </a:solidFill>
              </a:rPr>
              <a:t>Integration: routes + agent</a:t>
            </a:r>
          </a:p>
          <a:p xmlns:a="http://schemas.openxmlformats.org/drawingml/2006/main">
            <a:r>
              <a:rPr lang="en-US" sz="1200" b="0">
                <a:solidFill>
                  <a:srgbClr val="1F2328"/>
                </a:solidFill>
              </a:rPr>
              <a:t>Ethics: harmful content</a:t>
            </a:r>
          </a:p>
        </p:txBody>
      </p:sp>
      <p:sp>
        <p:nvSpPr>
          <p:cNvPr id="100125" name="P5"/>
          <p:cNvSpPr txBox="1"/>
          <p:nvPr/>
        </p:nvSpPr>
        <p:spPr>
          <a:xfrm xmlns:a="http://schemas.openxmlformats.org/drawingml/2006/main">
            <a:off x="4140000" y="2988000"/>
            <a:ext cx="3240000" cy="1620000"/>
          </a:xfrm>
          <a:prstGeom xmlns:a="http://schemas.openxmlformats.org/drawingml/2006/main" prst="rect">
            <a:avLst/>
          </a:prstGeom>
          <a:solidFill xmlns:a="http://schemas.openxmlformats.org/drawingml/2006/main">
            <a:srgbClr val="198038"/>
          </a:solidFill>
        </p:spPr>
        <p:txBody>
          <a:bodyPr xmlns:a="http://schemas.openxmlformats.org/drawingml/2006/main"/>
          <a:lstStyle xmlns:a="http://schemas.openxmlformats.org/drawingml/2006/main"/>
          <a:p xmlns:a="http://schemas.openxmlformats.org/drawingml/2006/main">
            <a:r>
              <a:rPr lang="en-US" sz="1200" b="0">
                <a:solidFill>
                  <a:srgbClr val="FFFFFF"/>
                </a:solidFill>
              </a:rPr>
              <a:t>5. DEPLOYMENT</a:t>
            </a:r>
          </a:p>
          <a:p xmlns:a="http://schemas.openxmlformats.org/drawingml/2006/main">
            <a:r>
              <a:rPr lang="en-US" sz="1200" b="0">
                <a:solidFill>
                  <a:srgbClr val="FFFFFF"/>
                </a:solidFill>
              </a:rPr>
              <a:t>Local: run.bat + setup.bat</a:t>
            </a:r>
          </a:p>
          <a:p xmlns:a="http://schemas.openxmlformats.org/drawingml/2006/main">
            <a:r>
              <a:rPr lang="en-US" sz="1200" b="0">
                <a:solidFill>
                  <a:srgbClr val="FFFFFF"/>
                </a:solidFill>
              </a:rPr>
              <a:t>GitHub: CreativeCrew2026</a:t>
            </a:r>
          </a:p>
          <a:p xmlns:a="http://schemas.openxmlformats.org/drawingml/2006/main">
            <a:r>
              <a:rPr lang="en-US" sz="1200" b="0">
                <a:solidFill>
                  <a:srgbClr val="FFFFFF"/>
                </a:solidFill>
              </a:rPr>
              <a:t>Docker / Cloud ready</a:t>
            </a:r>
          </a:p>
        </p:txBody>
      </p:sp>
      <p:sp>
        <p:nvSpPr>
          <p:cNvPr id="100126" name="P6"/>
          <p:cNvSpPr txBox="1"/>
          <p:nvPr/>
        </p:nvSpPr>
        <p:spPr>
          <a:xfrm xmlns:a="http://schemas.openxmlformats.org/drawingml/2006/main">
            <a:off x="7740000" y="2988000"/>
            <a:ext cx="3420000" cy="1620000"/>
          </a:xfrm>
          <a:prstGeom xmlns:a="http://schemas.openxmlformats.org/drawingml/2006/main" prst="rect">
            <a:avLst/>
          </a:prstGeom>
          <a:solidFill xmlns:a="http://schemas.openxmlformats.org/drawingml/2006/main">
            <a:srgbClr val="DA1E28"/>
          </a:solidFill>
        </p:spPr>
        <p:txBody>
          <a:bodyPr xmlns:a="http://schemas.openxmlformats.org/drawingml/2006/main"/>
          <a:lstStyle xmlns:a="http://schemas.openxmlformats.org/drawingml/2006/main"/>
          <a:p xmlns:a="http://schemas.openxmlformats.org/drawingml/2006/main">
            <a:r>
              <a:rPr lang="en-US" sz="1200" b="0">
                <a:solidFill>
                  <a:srgbClr val="FFFFFF"/>
                </a:solidFill>
              </a:rPr>
              <a:t>6. MONITORING</a:t>
            </a:r>
          </a:p>
          <a:p xmlns:a="http://schemas.openxmlformats.org/drawingml/2006/main">
            <a:r>
              <a:rPr lang="en-US" sz="1200" b="0">
                <a:solidFill>
                  <a:srgbClr val="FFFFFF"/>
                </a:solidFill>
              </a:rPr>
              <a:t>/health endpoint</a:t>
            </a:r>
          </a:p>
          <a:p xmlns:a="http://schemas.openxmlformats.org/drawingml/2006/main">
            <a:r>
              <a:rPr lang="en-US" sz="1200" b="0">
                <a:solidFill>
                  <a:srgbClr val="FFFFFF"/>
                </a:solidFill>
              </a:rPr>
              <a:t>Guardrail trigger logging</a:t>
            </a:r>
          </a:p>
          <a:p xmlns:a="http://schemas.openxmlformats.org/drawingml/2006/main">
            <a:r>
              <a:rPr lang="en-US" sz="1200" b="0">
                <a:solidFill>
                  <a:srgbClr val="FFFFFF"/>
                </a:solidFill>
              </a:rPr>
              <a:t>Demo vs live tracking</a:t>
            </a:r>
          </a:p>
        </p:txBody>
      </p:sp>
      <p:sp>
        <p:nvSpPr>
          <p:cNvPr id="100127" name="P7"/>
          <p:cNvSpPr txBox="1"/>
          <p:nvPr/>
        </p:nvSpPr>
        <p:spPr>
          <a:xfrm xmlns:a="http://schemas.openxmlformats.org/drawingml/2006/main">
            <a:off x="540000" y="4788000"/>
            <a:ext cx="10800000" cy="540000"/>
          </a:xfrm>
          <a:prstGeom xmlns:a="http://schemas.openxmlformats.org/drawingml/2006/main" prst="rect">
            <a:avLst/>
          </a:prstGeom>
          <a:solidFill xmlns:a="http://schemas.openxmlformats.org/drawingml/2006/main">
            <a:srgbClr val="FFF8E1"/>
          </a:solidFill>
        </p:spPr>
        <p:txBody>
          <a:bodyPr xmlns:a="http://schemas.openxmlformats.org/drawingml/2006/main"/>
          <a:lstStyle xmlns:a="http://schemas.openxmlformats.org/drawingml/2006/main"/>
          <a:p xmlns:a="http://schemas.openxmlformats.org/drawingml/2006/main">
            <a:r>
              <a:rPr lang="en-US" sz="1200" b="0">
                <a:solidFill>
                  <a:srgbClr val="1F2328"/>
                </a:solidFill>
              </a:rPr>
              <a:t>7. CONTINUOUS IMPROVEMENT  — Backlog: RAG with research papers  •  IBM App ID auth  •  IBM Cloudant storage  •  Multi-language support  •  Vision model for meal photos  •  Fine-tuned Granite nutrition model</a:t>
            </a:r>
          </a:p>
        </p:txBody>
      </p:sp>
      <p:sp>
        <p:nvSpPr>
          <p:cNvPr id="100128" name="BottomLine"/>
          <p:cNvSpPr txBox="1"/>
          <p:nvPr/>
        </p:nvSpPr>
        <p:spPr>
          <a:xfrm xmlns:a="http://schemas.openxmlformats.org/drawingml/2006/main">
            <a:off x="0" y="6408000"/>
            <a:ext cx="12193200" cy="432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1200">
                <a:solidFill>
                  <a:srgbClr val="FFFFFF"/>
                </a:solidFill>
              </a:rPr>
              <a:t>Full SDLC documented in AGENTIC_SDLC.md  |  GitHub: CreativeCrew2026/NutritionAgent</a:t>
            </a:r>
          </a:p>
        </p:txBody>
      </p:sp>
    </p:spTree>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29" name="TopBar"/>
          <p:cNvSpPr txBox="1"/>
          <p:nvPr/>
        </p:nvSpPr>
        <p:spPr>
          <a:xfrm xmlns:a="http://schemas.openxmlformats.org/drawingml/2006/main">
            <a:off x="0" y="0"/>
            <a:ext cx="12193200" cy="288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100" b="1">
                <a:solidFill>
                  <a:srgbClr val="FFFFFF"/>
                </a:solidFill>
              </a:rPr>
              <a:t>NutriGuide AI  |  Saved Plans &amp; .md File Output</a:t>
            </a:r>
          </a:p>
        </p:txBody>
      </p:sp>
      <p:sp>
        <p:nvSpPr>
          <p:cNvPr id="100130" name="Title"/>
          <p:cNvSpPr txBox="1"/>
          <p:nvPr/>
        </p:nvSpPr>
        <p:spPr>
          <a:xfrm xmlns:a="http://schemas.openxmlformats.org/drawingml/2006/main">
            <a:off x="540000" y="432000"/>
            <a:ext cx="1080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0F3460"/>
                </a:solidFill>
              </a:rPr>
              <a:t>Saved Plans — .md File Output &amp; History</a:t>
            </a:r>
          </a:p>
        </p:txBody>
      </p:sp>
      <p:sp>
        <p:nvSpPr>
          <p:cNvPr id="100131" name="Divider"/>
          <p:cNvSpPr txBox="1"/>
          <p:nvPr/>
        </p:nvSpPr>
        <p:spPr>
          <a:xfrm xmlns:a="http://schemas.openxmlformats.org/drawingml/2006/main">
            <a:off x="540000" y="936000"/>
            <a:ext cx="10800000" cy="288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p:txBody>
      </p:sp>
      <p:sp>
        <p:nvSpPr>
          <p:cNvPr id="100132" name="PlansTab"/>
          <p:cNvSpPr txBox="1"/>
          <p:nvPr/>
        </p:nvSpPr>
        <p:spPr>
          <a:xfrm xmlns:a="http://schemas.openxmlformats.org/drawingml/2006/main">
            <a:off x="540000" y="1080000"/>
            <a:ext cx="5328000" cy="324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200" b="0">
                <a:solidFill>
                  <a:srgbClr val="1F2328"/>
                </a:solidFill>
              </a:rPr>
              <a:t>SAVED PLANS TAB — Screenshot</a:t>
            </a:r>
          </a:p>
          <a:p xmlns:a="http://schemas.openxmlformats.org/drawingml/2006/main">
            <a:r>
              <a:rPr lang="en-US" sz="1200" b="0">
                <a:solidFill>
                  <a:srgbClr val="1F2328"/>
                </a:solidFill>
              </a:rPr>
              <a:t/>
            </a:r>
          </a:p>
          <a:p xmlns:a="http://schemas.openxmlformats.org/drawingml/2006/main">
            <a:r>
              <a:rPr lang="en-US" sz="1200" b="0">
                <a:solidFill>
                  <a:srgbClr val="1F2328"/>
                </a:solidFill>
              </a:rPr>
              <a:t>  📁 Saved Nutrition Plans                              [Refresh]</a:t>
            </a:r>
          </a:p>
          <a:p xmlns:a="http://schemas.openxmlformats.org/drawingml/2006/main">
            <a:r>
              <a:rPr lang="en-US" sz="1200" b="0">
                <a:solidFill>
                  <a:srgbClr val="1F2328"/>
                </a:solidFill>
              </a:rPr>
              <a:t/>
            </a:r>
          </a:p>
          <a:p xmlns:a="http://schemas.openxmlformats.org/drawingml/2006/main">
            <a:r>
              <a:rPr lang="en-US" sz="1200" b="0">
                <a:solidFill>
                  <a:srgbClr val="1F2328"/>
                </a:solidFill>
              </a:rPr>
              <a:t>  📄 nutrition_plan_Priya_Sharma_20250715_103000.md</a:t>
            </a:r>
          </a:p>
          <a:p xmlns:a="http://schemas.openxmlformats.org/drawingml/2006/main">
            <a:r>
              <a:rPr lang="en-US" sz="1200" b="0">
                <a:solidFill>
                  <a:srgbClr val="1F2328"/>
                </a:solidFill>
              </a:rPr>
              <a:t>       2025-07-15 10:30  •  12.4 KB                   [Download]</a:t>
            </a:r>
          </a:p>
          <a:p xmlns:a="http://schemas.openxmlformats.org/drawingml/2006/main">
            <a:r>
              <a:rPr lang="en-US" sz="1200" b="0">
                <a:solidFill>
                  <a:srgbClr val="1F2328"/>
                </a:solidFill>
              </a:rPr>
              <a:t/>
            </a:r>
          </a:p>
          <a:p xmlns:a="http://schemas.openxmlformats.org/drawingml/2006/main">
            <a:r>
              <a:rPr lang="en-US" sz="1200" b="0">
                <a:solidFill>
                  <a:srgbClr val="1F2328"/>
                </a:solidFill>
              </a:rPr>
              <a:t>  📄 nutrition_plan_John_Smith_20250714_142200.md</a:t>
            </a:r>
          </a:p>
          <a:p xmlns:a="http://schemas.openxmlformats.org/drawingml/2006/main">
            <a:r>
              <a:rPr lang="en-US" sz="1200" b="0">
                <a:solidFill>
                  <a:srgbClr val="1F2328"/>
                </a:solidFill>
              </a:rPr>
              <a:t>       2025-07-14 14:22  •  11.8 KB                   [Download]</a:t>
            </a:r>
          </a:p>
          <a:p xmlns:a="http://schemas.openxmlformats.org/drawingml/2006/main">
            <a:r>
              <a:rPr lang="en-US" sz="1200" b="0">
                <a:solidFill>
                  <a:srgbClr val="1F2328"/>
                </a:solidFill>
              </a:rPr>
              <a:t/>
            </a:r>
          </a:p>
          <a:p xmlns:a="http://schemas.openxmlformats.org/drawingml/2006/main">
            <a:r>
              <a:rPr lang="en-US" sz="1200" b="0">
                <a:solidFill>
                  <a:srgbClr val="1F2328"/>
                </a:solidFill>
              </a:rPr>
              <a:t>  📄 nutrition_plan_Rahul_Kumar_20250713_090500.md</a:t>
            </a:r>
          </a:p>
          <a:p xmlns:a="http://schemas.openxmlformats.org/drawingml/2006/main">
            <a:r>
              <a:rPr lang="en-US" sz="1200" b="0">
                <a:solidFill>
                  <a:srgbClr val="1F2328"/>
                </a:solidFill>
              </a:rPr>
              <a:t>       2025-07-13 09:05  •  13.1 KB                   [Download]</a:t>
            </a:r>
          </a:p>
          <a:p xmlns:a="http://schemas.openxmlformats.org/drawingml/2006/main">
            <a:r>
              <a:rPr lang="en-US" sz="1200" b="0">
                <a:solidFill>
                  <a:srgbClr val="1F2328"/>
                </a:solidFill>
              </a:rPr>
              <a:t/>
            </a:r>
          </a:p>
          <a:p xmlns:a="http://schemas.openxmlformats.org/drawingml/2006/main">
            <a:r>
              <a:rPr lang="en-US" sz="1200" b="0">
                <a:solidFill>
                  <a:srgbClr val="1F2328"/>
                </a:solidFill>
              </a:rPr>
              <a:t>  📄 sample_nutrition_plan_demo.md</a:t>
            </a:r>
          </a:p>
          <a:p xmlns:a="http://schemas.openxmlformats.org/drawingml/2006/main">
            <a:r>
              <a:rPr lang="en-US" sz="1200" b="0">
                <a:solidFill>
                  <a:srgbClr val="1F2328"/>
                </a:solidFill>
              </a:rPr>
              <a:t>       2025-01-01 00:00  •  4.2 KB                    [Download]</a:t>
            </a:r>
          </a:p>
        </p:txBody>
      </p:sp>
      <p:sp>
        <p:nvSpPr>
          <p:cNvPr id="100133" name="MdPreview"/>
          <p:cNvSpPr txBox="1"/>
          <p:nvPr/>
        </p:nvSpPr>
        <p:spPr>
          <a:xfrm xmlns:a="http://schemas.openxmlformats.org/drawingml/2006/main">
            <a:off x="6120000" y="1080000"/>
            <a:ext cx="5328000" cy="3240000"/>
          </a:xfrm>
          <a:prstGeom xmlns:a="http://schemas.openxmlformats.org/drawingml/2006/main" prst="rect">
            <a:avLst/>
          </a:prstGeom>
          <a:solidFill xmlns:a="http://schemas.openxmlformats.org/drawingml/2006/main">
            <a:srgbClr val="0D1117"/>
          </a:solidFill>
        </p:spPr>
        <p:txBody>
          <a:bodyPr xmlns:a="http://schemas.openxmlformats.org/drawingml/2006/main"/>
          <a:lstStyle xmlns:a="http://schemas.openxmlformats.org/drawingml/2006/main"/>
          <a:p xmlns:a="http://schemas.openxmlformats.org/drawingml/2006/main">
            <a:r>
              <a:rPr lang="en-US" sz="1000" b="0">
                <a:solidFill>
                  <a:srgbClr val="A0FFB5"/>
                </a:solidFill>
              </a:rPr>
              <a:t>nutrition_plan_Priya_Sharma_20250715.md</a:t>
            </a:r>
          </a:p>
          <a:p xmlns:a="http://schemas.openxmlformats.org/drawingml/2006/main">
            <a:r>
              <a:rPr lang="en-US" sz="1000" b="0">
                <a:solidFill>
                  <a:srgbClr val="A0FFB5"/>
                </a:solidFill>
              </a:rPr>
              <a:t/>
            </a:r>
          </a:p>
          <a:p xmlns:a="http://schemas.openxmlformats.org/drawingml/2006/main">
            <a:r>
              <a:rPr lang="en-US" sz="1000" b="0">
                <a:solidFill>
                  <a:srgbClr val="A0FFB5"/>
                </a:solidFill>
              </a:rPr>
              <a:t>---</a:t>
            </a:r>
          </a:p>
          <a:p xmlns:a="http://schemas.openxmlformats.org/drawingml/2006/main">
            <a:r>
              <a:rPr lang="en-US" sz="1000" b="0">
                <a:solidFill>
                  <a:srgbClr val="A0FFB5"/>
                </a:solidFill>
              </a:rPr>
              <a:t>title: "Nutrition Plan for Priya Sharma"</a:t>
            </a:r>
          </a:p>
          <a:p xmlns:a="http://schemas.openxmlformats.org/drawingml/2006/main">
            <a:r>
              <a:rPr lang="en-US" sz="1000" b="0">
                <a:solidFill>
                  <a:srgbClr val="A0FFB5"/>
                </a:solidFill>
              </a:rPr>
              <a:t>generated_at: "2025-07-15 10:30:00"</a:t>
            </a:r>
          </a:p>
          <a:p xmlns:a="http://schemas.openxmlformats.org/drawingml/2006/main">
            <a:r>
              <a:rPr lang="en-US" sz="1000" b="0">
                <a:solidFill>
                  <a:srgbClr val="A0FFB5"/>
                </a:solidFill>
              </a:rPr>
              <a:t>model: "ibm/granite-13b-instruct-v2"</a:t>
            </a:r>
          </a:p>
          <a:p xmlns:a="http://schemas.openxmlformats.org/drawingml/2006/main">
            <a:r>
              <a:rPr lang="en-US" sz="1000" b="0">
                <a:solidFill>
                  <a:srgbClr val="A0FFB5"/>
                </a:solidFill>
              </a:rPr>
              <a:t>app_version: "1.0.0"</a:t>
            </a:r>
          </a:p>
          <a:p xmlns:a="http://schemas.openxmlformats.org/drawingml/2006/main">
            <a:r>
              <a:rPr lang="en-US" sz="1000" b="0">
                <a:solidFill>
                  <a:srgbClr val="A0FFB5"/>
                </a:solidFill>
              </a:rPr>
              <a:t>---</a:t>
            </a:r>
          </a:p>
          <a:p xmlns:a="http://schemas.openxmlformats.org/drawingml/2006/main">
            <a:r>
              <a:rPr lang="en-US" sz="1000" b="0">
                <a:solidFill>
                  <a:srgbClr val="A0FFB5"/>
                </a:solidFill>
              </a:rPr>
              <a:t/>
            </a:r>
          </a:p>
          <a:p xmlns:a="http://schemas.openxmlformats.org/drawingml/2006/main">
            <a:r>
              <a:rPr lang="en-US" sz="1000" b="0">
                <a:solidFill>
                  <a:srgbClr val="A0FFB5"/>
                </a:solidFill>
              </a:rPr>
              <a:t># Personalised Nutrition Plan</a:t>
            </a:r>
          </a:p>
          <a:p xmlns:a="http://schemas.openxmlformats.org/drawingml/2006/main">
            <a:r>
              <a:rPr lang="en-US" sz="1000" b="0">
                <a:solidFill>
                  <a:srgbClr val="A0FFB5"/>
                </a:solidFill>
              </a:rPr>
              <a:t>**Name:** Priya Sharma</a:t>
            </a:r>
          </a:p>
          <a:p xmlns:a="http://schemas.openxmlformats.org/drawingml/2006/main">
            <a:r>
              <a:rPr lang="en-US" sz="1000" b="0">
                <a:solidFill>
                  <a:srgbClr val="A0FFB5"/>
                </a:solidFill>
              </a:rPr>
              <a:t>**Age:** 35</a:t>
            </a:r>
          </a:p>
          <a:p xmlns:a="http://schemas.openxmlformats.org/drawingml/2006/main">
            <a:r>
              <a:rPr lang="en-US" sz="1000" b="0">
                <a:solidFill>
                  <a:srgbClr val="A0FFB5"/>
                </a:solidFill>
              </a:rPr>
              <a:t>**Diet Preference:** vegetarian</a:t>
            </a:r>
          </a:p>
          <a:p xmlns:a="http://schemas.openxmlformats.org/drawingml/2006/main">
            <a:r>
              <a:rPr lang="en-US" sz="1000" b="0">
                <a:solidFill>
                  <a:srgbClr val="A0FFB5"/>
                </a:solidFill>
              </a:rPr>
              <a:t>**Location:** Mumbai, India</a:t>
            </a:r>
          </a:p>
          <a:p xmlns:a="http://schemas.openxmlformats.org/drawingml/2006/main">
            <a:r>
              <a:rPr lang="en-US" sz="1000" b="0">
                <a:solidFill>
                  <a:srgbClr val="A0FFB5"/>
                </a:solidFill>
              </a:rPr>
              <a:t>**Goal:** Manage diabetes</a:t>
            </a:r>
          </a:p>
          <a:p xmlns:a="http://schemas.openxmlformats.org/drawingml/2006/main">
            <a:r>
              <a:rPr lang="en-US" sz="1000" b="0">
                <a:solidFill>
                  <a:srgbClr val="A0FFB5"/>
                </a:solidFill>
              </a:rPr>
              <a:t>**Generated:** 2025-07-15 10:30:00</a:t>
            </a:r>
          </a:p>
          <a:p xmlns:a="http://schemas.openxmlformats.org/drawingml/2006/main">
            <a:r>
              <a:rPr lang="en-US" sz="1000" b="0">
                <a:solidFill>
                  <a:srgbClr val="A0FFB5"/>
                </a:solidFill>
              </a:rPr>
              <a:t>**AI Model:** ibm/granite-13b-instruct-v2</a:t>
            </a:r>
          </a:p>
          <a:p xmlns:a="http://schemas.openxmlformats.org/drawingml/2006/main">
            <a:r>
              <a:rPr lang="en-US" sz="1000" b="0">
                <a:solidFill>
                  <a:srgbClr val="A0FFB5"/>
                </a:solidFill>
              </a:rPr>
              <a:t/>
            </a:r>
          </a:p>
          <a:p xmlns:a="http://schemas.openxmlformats.org/drawingml/2006/main">
            <a:r>
              <a:rPr lang="en-US" sz="1000" b="0">
                <a:solidFill>
                  <a:srgbClr val="A0FFB5"/>
                </a:solidFill>
              </a:rPr>
              <a:t>---</a:t>
            </a:r>
          </a:p>
          <a:p xmlns:a="http://schemas.openxmlformats.org/drawingml/2006/main">
            <a:r>
              <a:rPr lang="en-US" sz="1000" b="0">
                <a:solidFill>
                  <a:srgbClr val="A0FFB5"/>
                </a:solidFill>
              </a:rPr>
              <a:t/>
            </a:r>
          </a:p>
          <a:p xmlns:a="http://schemas.openxmlformats.org/drawingml/2006/main">
            <a:r>
              <a:rPr lang="en-US" sz="1000" b="0">
                <a:solidFill>
                  <a:srgbClr val="A0FFB5"/>
                </a:solidFill>
              </a:rPr>
              <a:t># Personalised Nutrition Plan</a:t>
            </a:r>
          </a:p>
          <a:p xmlns:a="http://schemas.openxmlformats.org/drawingml/2006/main">
            <a:r>
              <a:rPr lang="en-US" sz="1000" b="0">
                <a:solidFill>
                  <a:srgbClr val="A0FFB5"/>
                </a:solidFill>
              </a:rPr>
              <a:t>*Generated by NutriGuide — IBM Granite AI*</a:t>
            </a:r>
          </a:p>
          <a:p xmlns:a="http://schemas.openxmlformats.org/drawingml/2006/main">
            <a:r>
              <a:rPr lang="en-US" sz="1000" b="0">
                <a:solidFill>
                  <a:srgbClr val="A0FFB5"/>
                </a:solidFill>
              </a:rPr>
              <a:t/>
            </a:r>
          </a:p>
          <a:p xmlns:a="http://schemas.openxmlformats.org/drawingml/2006/main">
            <a:r>
              <a:rPr lang="en-US" sz="1000" b="0">
                <a:solidFill>
                  <a:srgbClr val="A0FFB5"/>
                </a:solidFill>
              </a:rPr>
              <a:t>## Nutritional Assessment</a:t>
            </a:r>
          </a:p>
          <a:p xmlns:a="http://schemas.openxmlformats.org/drawingml/2006/main">
            <a:r>
              <a:rPr lang="en-US" sz="1000" b="0">
                <a:solidFill>
                  <a:srgbClr val="A0FFB5"/>
                </a:solidFill>
              </a:rPr>
              <a:t>## Daily Calorie &amp; Macronutrient Target</a:t>
            </a:r>
          </a:p>
          <a:p xmlns:a="http://schemas.openxmlformats.org/drawingml/2006/main">
            <a:r>
              <a:rPr lang="en-US" sz="1000" b="0">
                <a:solidFill>
                  <a:srgbClr val="A0FFB5"/>
                </a:solidFill>
              </a:rPr>
              <a:t>## 7-Day Meal Plan</a:t>
            </a:r>
          </a:p>
          <a:p xmlns:a="http://schemas.openxmlformats.org/drawingml/2006/main">
            <a:r>
              <a:rPr lang="en-US" sz="1000" b="0">
                <a:solidFill>
                  <a:srgbClr val="A0FFB5"/>
                </a:solidFill>
              </a:rPr>
              <a:t>## Foods to Emphasise</a:t>
            </a:r>
          </a:p>
          <a:p xmlns:a="http://schemas.openxmlformats.org/drawingml/2006/main">
            <a:r>
              <a:rPr lang="en-US" sz="1000" b="0">
                <a:solidFill>
                  <a:srgbClr val="A0FFB5"/>
                </a:solidFill>
              </a:rPr>
              <a:t>## Foods to Limit / Avoid</a:t>
            </a:r>
          </a:p>
          <a:p xmlns:a="http://schemas.openxmlformats.org/drawingml/2006/main">
            <a:r>
              <a:rPr lang="en-US" sz="1000" b="0">
                <a:solidFill>
                  <a:srgbClr val="A0FFB5"/>
                </a:solidFill>
              </a:rPr>
              <a:t>## Hydration Guide</a:t>
            </a:r>
          </a:p>
          <a:p xmlns:a="http://schemas.openxmlformats.org/drawingml/2006/main">
            <a:r>
              <a:rPr lang="en-US" sz="1000" b="0">
                <a:solidFill>
                  <a:srgbClr val="A0FFB5"/>
                </a:solidFill>
              </a:rPr>
              <a:t>## Lifestyle Tips</a:t>
            </a:r>
          </a:p>
          <a:p xmlns:a="http://schemas.openxmlformats.org/drawingml/2006/main">
            <a:r>
              <a:rPr lang="en-US" sz="1000" b="0">
                <a:solidFill>
                  <a:srgbClr val="A0FFB5"/>
                </a:solidFill>
              </a:rPr>
              <a:t>## Weekly Shopping List</a:t>
            </a:r>
          </a:p>
          <a:p xmlns:a="http://schemas.openxmlformats.org/drawingml/2006/main">
            <a:r>
              <a:rPr lang="en-US" sz="1000" b="0">
                <a:solidFill>
                  <a:srgbClr val="A0FFB5"/>
                </a:solidFill>
              </a:rPr>
              <a:t>## Medical Disclaimer</a:t>
            </a:r>
          </a:p>
        </p:txBody>
      </p:sp>
      <p:sp>
        <p:nvSpPr>
          <p:cNvPr id="100134" name="AutoSave"/>
          <p:cNvSpPr txBox="1"/>
          <p:nvPr/>
        </p:nvSpPr>
        <p:spPr>
          <a:xfrm xmlns:a="http://schemas.openxmlformats.org/drawingml/2006/main">
            <a:off x="540000" y="4464000"/>
            <a:ext cx="10800000" cy="468000"/>
          </a:xfrm>
          <a:prstGeom xmlns:a="http://schemas.openxmlformats.org/drawingml/2006/main" prst="rect">
            <a:avLst/>
          </a:prstGeom>
          <a:solidFill xmlns:a="http://schemas.openxmlformats.org/drawingml/2006/main">
            <a:srgbClr val="E8F4FD"/>
          </a:solidFill>
        </p:spPr>
        <p:txBody>
          <a:bodyPr xmlns:a="http://schemas.openxmlformats.org/drawingml/2006/main"/>
          <a:lstStyle xmlns:a="http://schemas.openxmlformats.org/drawingml/2006/main"/>
          <a:p xmlns:a="http://schemas.openxmlformats.org/drawingml/2006/main">
            <a:r>
              <a:rPr lang="en-US" sz="1200" b="0">
                <a:solidFill>
                  <a:srgbClr val="1F2328"/>
                </a:solidFill>
              </a:rPr>
              <a:t>AUTO-SAVE MECHANISM:  Every plan is auto-saved immediately after generation  |  Timestamped filename prevents overwrite  |  Stored in nutrition_plans/ directory  |  Downloadable via GET /api/plans/&lt;filename&gt;</a:t>
            </a:r>
          </a:p>
        </p:txBody>
      </p:sp>
      <p:sp>
        <p:nvSpPr>
          <p:cNvPr id="100135" name="BottomLine"/>
          <p:cNvSpPr txBox="1"/>
          <p:nvPr/>
        </p:nvSpPr>
        <p:spPr>
          <a:xfrm xmlns:a="http://schemas.openxmlformats.org/drawingml/2006/main">
            <a:off x="0" y="6408000"/>
            <a:ext cx="12193200" cy="432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1200">
                <a:solidFill>
                  <a:srgbClr val="FFFFFF"/>
                </a:solidFill>
              </a:rPr>
              <a:t>app.py: _save_plan_to_file()  |  YAML front-matter header  |  Full Markdown body  |  GET /api/plans  endpoint</a:t>
            </a:r>
          </a:p>
        </p:txBody>
      </p:sp>
    </p:spTree>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36" name="TopBar"/>
          <p:cNvSpPr txBox="1"/>
          <p:nvPr/>
        </p:nvSpPr>
        <p:spPr>
          <a:xfrm xmlns:a="http://schemas.openxmlformats.org/drawingml/2006/main">
            <a:off x="0" y="0"/>
            <a:ext cx="12193200" cy="288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100" b="1">
                <a:solidFill>
                  <a:srgbClr val="FFFFFF"/>
                </a:solidFill>
              </a:rPr>
              <a:t>NutriGuide AI  |  GitHub Deployment</a:t>
            </a:r>
          </a:p>
        </p:txBody>
      </p:sp>
      <p:sp>
        <p:nvSpPr>
          <p:cNvPr id="100137" name="Title"/>
          <p:cNvSpPr txBox="1"/>
          <p:nvPr/>
        </p:nvSpPr>
        <p:spPr>
          <a:xfrm xmlns:a="http://schemas.openxmlformats.org/drawingml/2006/main">
            <a:off x="540000" y="432000"/>
            <a:ext cx="1080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0F3460"/>
                </a:solidFill>
              </a:rPr>
              <a:t>GitHub Deployment</a:t>
            </a:r>
          </a:p>
        </p:txBody>
      </p:sp>
      <p:sp>
        <p:nvSpPr>
          <p:cNvPr id="100138" name="Divider"/>
          <p:cNvSpPr txBox="1"/>
          <p:nvPr/>
        </p:nvSpPr>
        <p:spPr>
          <a:xfrm xmlns:a="http://schemas.openxmlformats.org/drawingml/2006/main">
            <a:off x="540000" y="936000"/>
            <a:ext cx="10800000" cy="288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p:txBody>
      </p:sp>
      <p:sp>
        <p:nvSpPr>
          <p:cNvPr id="100139" name="RepoBox"/>
          <p:cNvSpPr txBox="1"/>
          <p:nvPr/>
        </p:nvSpPr>
        <p:spPr>
          <a:xfrm xmlns:a="http://schemas.openxmlformats.org/drawingml/2006/main">
            <a:off x="540000" y="1080000"/>
            <a:ext cx="5220000" cy="1620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r>
              <a:rPr lang="en-US" sz="1400" b="0">
                <a:solidFill>
                  <a:srgbClr val="FFFFFF"/>
                </a:solidFill>
              </a:rPr>
              <a:t>REPOSITORY</a:t>
            </a:r>
          </a:p>
          <a:p xmlns:a="http://schemas.openxmlformats.org/drawingml/2006/main">
            <a:r>
              <a:rPr lang="en-US" sz="1400" b="0">
                <a:solidFill>
                  <a:srgbClr val="FFFFFF"/>
                </a:solidFill>
              </a:rPr>
              <a:t>https://github.com/CreativeCrew2026/NutritionAgent</a:t>
            </a:r>
          </a:p>
          <a:p xmlns:a="http://schemas.openxmlformats.org/drawingml/2006/main">
            <a:r>
              <a:rPr lang="en-US" sz="1400" b="0">
                <a:solidFill>
                  <a:srgbClr val="FFFFFF"/>
                </a:solidFill>
              </a:rPr>
              <a:t/>
            </a:r>
          </a:p>
          <a:p xmlns:a="http://schemas.openxmlformats.org/drawingml/2006/main">
            <a:r>
              <a:rPr lang="en-US" sz="1400" b="0">
                <a:solidFill>
                  <a:srgbClr val="FFFFFF"/>
                </a:solidFill>
              </a:rPr>
              <a:t>Branch: main</a:t>
            </a:r>
          </a:p>
          <a:p xmlns:a="http://schemas.openxmlformats.org/drawingml/2006/main">
            <a:r>
              <a:rPr lang="en-US" sz="1400" b="0">
                <a:solidFill>
                  <a:srgbClr val="FFFFFF"/>
                </a:solidFill>
              </a:rPr>
              <a:t>Commit: Initial commit (a1f5803)</a:t>
            </a:r>
          </a:p>
          <a:p xmlns:a="http://schemas.openxmlformats.org/drawingml/2006/main">
            <a:r>
              <a:rPr lang="en-US" sz="1400" b="0">
                <a:solidFill>
                  <a:srgbClr val="FFFFFF"/>
                </a:solidFill>
              </a:rPr>
              <a:t>13 files  |  2,969 insertions</a:t>
            </a:r>
          </a:p>
        </p:txBody>
      </p:sp>
      <p:sp>
        <p:nvSpPr>
          <p:cNvPr id="100140" name="CommittedFiles"/>
          <p:cNvSpPr txBox="1"/>
          <p:nvPr/>
        </p:nvSpPr>
        <p:spPr>
          <a:xfrm xmlns:a="http://schemas.openxmlformats.org/drawingml/2006/main">
            <a:off x="6120000" y="1080000"/>
            <a:ext cx="5328000" cy="2160000"/>
          </a:xfrm>
          <a:prstGeom xmlns:a="http://schemas.openxmlformats.org/drawingml/2006/main" prst="rect">
            <a:avLst/>
          </a:prstGeom>
          <a:solidFill xmlns:a="http://schemas.openxmlformats.org/drawingml/2006/main">
            <a:srgbClr val="F4F4F4"/>
          </a:solidFill>
        </p:spPr>
        <p:txBody>
          <a:bodyPr xmlns:a="http://schemas.openxmlformats.org/drawingml/2006/main"/>
          <a:lstStyle xmlns:a="http://schemas.openxmlformats.org/drawingml/2006/main"/>
          <a:p xmlns:a="http://schemas.openxmlformats.org/drawingml/2006/main">
            <a:r>
              <a:rPr lang="en-US" sz="1200" b="0">
                <a:solidFill>
                  <a:srgbClr val="1F2328"/>
                </a:solidFill>
              </a:rPr>
              <a:t>FILES IN REPOSITORY</a:t>
            </a:r>
          </a:p>
          <a:p xmlns:a="http://schemas.openxmlformats.org/drawingml/2006/main">
            <a:r>
              <a:rPr lang="en-US" sz="1200" b="0">
                <a:solidFill>
                  <a:srgbClr val="1F2328"/>
                </a:solidFill>
              </a:rPr>
              <a:t/>
            </a:r>
          </a:p>
          <a:p xmlns:a="http://schemas.openxmlformats.org/drawingml/2006/main">
            <a:r>
              <a:rPr lang="en-US" sz="1200" b="0">
                <a:solidFill>
                  <a:srgbClr val="1F2328"/>
                </a:solidFill>
              </a:rPr>
              <a:t>.env.example          .gitignore</a:t>
            </a:r>
          </a:p>
          <a:p xmlns:a="http://schemas.openxmlformats.org/drawingml/2006/main">
            <a:r>
              <a:rPr lang="en-US" sz="1200" b="0">
                <a:solidFill>
                  <a:srgbClr val="1F2328"/>
                </a:solidFill>
              </a:rPr>
              <a:t>AGENTIC_SDLC.md       LICENSE</a:t>
            </a:r>
          </a:p>
          <a:p xmlns:a="http://schemas.openxmlformats.org/drawingml/2006/main">
            <a:r>
              <a:rPr lang="en-US" sz="1200" b="0">
                <a:solidFill>
                  <a:srgbClr val="1F2328"/>
                </a:solidFill>
              </a:rPr>
              <a:t>README.md             agent/__init__.py</a:t>
            </a:r>
          </a:p>
          <a:p xmlns:a="http://schemas.openxmlformats.org/drawingml/2006/main">
            <a:r>
              <a:rPr lang="en-US" sz="1200" b="0">
                <a:solidFill>
                  <a:srgbClr val="1F2328"/>
                </a:solidFill>
              </a:rPr>
              <a:t>agent/granite_agent.py</a:t>
            </a:r>
          </a:p>
          <a:p xmlns:a="http://schemas.openxmlformats.org/drawingml/2006/main">
            <a:r>
              <a:rPr lang="en-US" sz="1200" b="0">
                <a:solidFill>
                  <a:srgbClr val="1F2328"/>
                </a:solidFill>
              </a:rPr>
              <a:t>app.py</a:t>
            </a:r>
          </a:p>
          <a:p xmlns:a="http://schemas.openxmlformats.org/drawingml/2006/main">
            <a:r>
              <a:rPr lang="en-US" sz="1200" b="0">
                <a:solidFill>
                  <a:srgbClr val="1F2328"/>
                </a:solidFill>
              </a:rPr>
              <a:t>nutrition_plans/sample_nutrition_plan_demo.md</a:t>
            </a:r>
          </a:p>
          <a:p xmlns:a="http://schemas.openxmlformats.org/drawingml/2006/main">
            <a:r>
              <a:rPr lang="en-US" sz="1200" b="0">
                <a:solidFill>
                  <a:srgbClr val="1F2328"/>
                </a:solidFill>
              </a:rPr>
              <a:t>requirements.txt      run.bat</a:t>
            </a:r>
          </a:p>
          <a:p xmlns:a="http://schemas.openxmlformats.org/drawingml/2006/main">
            <a:r>
              <a:rPr lang="en-US" sz="1200" b="0">
                <a:solidFill>
                  <a:srgbClr val="1F2328"/>
                </a:solidFill>
              </a:rPr>
              <a:t>setup.bat             static/index.html</a:t>
            </a:r>
          </a:p>
          <a:p xmlns:a="http://schemas.openxmlformats.org/drawingml/2006/main">
            <a:r>
              <a:rPr lang="en-US" sz="1200" b="0">
                <a:solidFill>
                  <a:srgbClr val="1F2328"/>
                </a:solidFill>
              </a:rPr>
              <a:t>NutriGuide_AI_Presentation.pptx</a:t>
            </a:r>
          </a:p>
        </p:txBody>
      </p:sp>
      <p:sp>
        <p:nvSpPr>
          <p:cNvPr id="100141" name="GitSteps"/>
          <p:cNvSpPr txBox="1"/>
          <p:nvPr/>
        </p:nvSpPr>
        <p:spPr>
          <a:xfrm xmlns:a="http://schemas.openxmlformats.org/drawingml/2006/main">
            <a:off x="540000" y="2808000"/>
            <a:ext cx="10800000" cy="1980000"/>
          </a:xfrm>
          <a:prstGeom xmlns:a="http://schemas.openxmlformats.org/drawingml/2006/main" prst="rect">
            <a:avLst/>
          </a:prstGeom>
          <a:solidFill xmlns:a="http://schemas.openxmlformats.org/drawingml/2006/main">
            <a:srgbClr val="0D1117"/>
          </a:solidFill>
        </p:spPr>
        <p:txBody>
          <a:bodyPr xmlns:a="http://schemas.openxmlformats.org/drawingml/2006/main"/>
          <a:lstStyle xmlns:a="http://schemas.openxmlformats.org/drawingml/2006/main"/>
          <a:p xmlns:a="http://schemas.openxmlformats.org/drawingml/2006/main">
            <a:r>
              <a:rPr lang="en-US" sz="1200" b="0">
                <a:solidFill>
                  <a:srgbClr val="A0FFB5"/>
                </a:solidFill>
              </a:rPr>
              <a:t>GIT COMMANDS EXECUTED</a:t>
            </a:r>
          </a:p>
          <a:p xmlns:a="http://schemas.openxmlformats.org/drawingml/2006/main">
            <a:r>
              <a:rPr lang="en-US" sz="1200" b="0">
                <a:solidFill>
                  <a:srgbClr val="A0FFB5"/>
                </a:solidFill>
              </a:rPr>
              <a:t/>
            </a:r>
          </a:p>
          <a:p xmlns:a="http://schemas.openxmlformats.org/drawingml/2006/main">
            <a:r>
              <a:rPr lang="en-US" sz="1200" b="0">
                <a:solidFill>
                  <a:srgbClr val="A0FFB5"/>
                </a:solidFill>
              </a:rPr>
              <a:t>git init</a:t>
            </a:r>
          </a:p>
          <a:p xmlns:a="http://schemas.openxmlformats.org/drawingml/2006/main">
            <a:r>
              <a:rPr lang="en-US" sz="1200" b="0">
                <a:solidFill>
                  <a:srgbClr val="A0FFB5"/>
                </a:solidFill>
              </a:rPr>
              <a:t>git remote add origin https://github.com/CreativeCrew2026/NutritionAgent.git</a:t>
            </a:r>
          </a:p>
          <a:p xmlns:a="http://schemas.openxmlformats.org/drawingml/2006/main">
            <a:r>
              <a:rPr lang="en-US" sz="1200" b="0">
                <a:solidFill>
                  <a:srgbClr val="A0FFB5"/>
                </a:solidFill>
              </a:rPr>
              <a:t>git add .                           (13 files staged)</a:t>
            </a:r>
          </a:p>
          <a:p xmlns:a="http://schemas.openxmlformats.org/drawingml/2006/main">
            <a:r>
              <a:rPr lang="en-US" sz="1200" b="0">
                <a:solidFill>
                  <a:srgbClr val="A0FFB5"/>
                </a:solidFill>
              </a:rPr>
              <a:t>git commit -m "Initial commit: NutriGuide AI — IBM Granite Nutrition Agent"</a:t>
            </a:r>
          </a:p>
          <a:p xmlns:a="http://schemas.openxmlformats.org/drawingml/2006/main">
            <a:r>
              <a:rPr lang="en-US" sz="1200" b="0">
                <a:solidFill>
                  <a:srgbClr val="A0FFB5"/>
                </a:solidFill>
              </a:rPr>
              <a:t>git branch -M main</a:t>
            </a:r>
          </a:p>
          <a:p xmlns:a="http://schemas.openxmlformats.org/drawingml/2006/main">
            <a:r>
              <a:rPr lang="en-US" sz="1200" b="0">
                <a:solidFill>
                  <a:srgbClr val="A0FFB5"/>
                </a:solidFill>
              </a:rPr>
              <a:t>git push -u origin main             (* [new branch] main -&gt; main)</a:t>
            </a:r>
          </a:p>
          <a:p xmlns:a="http://schemas.openxmlformats.org/drawingml/2006/main">
            <a:r>
              <a:rPr lang="en-US" sz="1200" b="0">
                <a:solidFill>
                  <a:srgbClr val="A0FFB5"/>
                </a:solidFill>
              </a:rPr>
              <a:t/>
            </a:r>
          </a:p>
          <a:p xmlns:a="http://schemas.openxmlformats.org/drawingml/2006/main">
            <a:r>
              <a:rPr lang="en-US" sz="1200" b="0">
                <a:solidFill>
                  <a:srgbClr val="A0FFB5"/>
                </a:solidFill>
              </a:rPr>
              <a:t>git add NutriGuide_AI_Presentation.pptx</a:t>
            </a:r>
          </a:p>
          <a:p xmlns:a="http://schemas.openxmlformats.org/drawingml/2006/main">
            <a:r>
              <a:rPr lang="en-US" sz="1200" b="0">
                <a:solidFill>
                  <a:srgbClr val="A0FFB5"/>
                </a:solidFill>
              </a:rPr>
              <a:t>git commit -m "Add project presentation: NutriGuide AI PPT"</a:t>
            </a:r>
          </a:p>
          <a:p xmlns:a="http://schemas.openxmlformats.org/drawingml/2006/main">
            <a:r>
              <a:rPr lang="en-US" sz="1200" b="0">
                <a:solidFill>
                  <a:srgbClr val="A0FFB5"/>
                </a:solidFill>
              </a:rPr>
              <a:t>git push</a:t>
            </a:r>
          </a:p>
        </p:txBody>
      </p:sp>
      <p:sp>
        <p:nvSpPr>
          <p:cNvPr id="100142" name="CloneCmd"/>
          <p:cNvSpPr txBox="1"/>
          <p:nvPr/>
        </p:nvSpPr>
        <p:spPr>
          <a:xfrm xmlns:a="http://schemas.openxmlformats.org/drawingml/2006/main">
            <a:off x="540000" y="4932000"/>
            <a:ext cx="10800000" cy="36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200" b="1">
                <a:solidFill>
                  <a:srgbClr val="FFFFFF"/>
                </a:solidFill>
              </a:rPr>
              <a:t>CLONE &amp; RUN:   git clone https://github.com/CreativeCrew2026/NutritionAgent.git   cd NutritionAgent   run.bat</a:t>
            </a:r>
          </a:p>
        </p:txBody>
      </p:sp>
      <p:sp>
        <p:nvSpPr>
          <p:cNvPr id="100143" name="BottomLine"/>
          <p:cNvSpPr txBox="1"/>
          <p:nvPr/>
        </p:nvSpPr>
        <p:spPr>
          <a:xfrm xmlns:a="http://schemas.openxmlformats.org/drawingml/2006/main">
            <a:off x="0" y="6408000"/>
            <a:ext cx="12193200" cy="432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1200">
                <a:solidFill>
                  <a:srgbClr val="FFFFFF"/>
                </a:solidFill>
              </a:rPr>
              <a:t>Git 2.55.0  |  GitHub  |  Branch: main  |  MIT License  |  Deployed: 2025</a:t>
            </a:r>
          </a:p>
        </p:txBody>
      </p:sp>
    </p:spTree>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44" name="TopBar"/>
          <p:cNvSpPr txBox="1"/>
          <p:nvPr/>
        </p:nvSpPr>
        <p:spPr>
          <a:xfrm xmlns:a="http://schemas.openxmlformats.org/drawingml/2006/main">
            <a:off x="0" y="0"/>
            <a:ext cx="12193200" cy="288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100" b="1">
                <a:solidFill>
                  <a:srgbClr val="FFFFFF"/>
                </a:solidFill>
              </a:rPr>
              <a:t>NutriGuide AI  |  Weekly Shopping List</a:t>
            </a:r>
          </a:p>
        </p:txBody>
      </p:sp>
      <p:sp>
        <p:nvSpPr>
          <p:cNvPr id="100145" name="Title"/>
          <p:cNvSpPr txBox="1"/>
          <p:nvPr/>
        </p:nvSpPr>
        <p:spPr>
          <a:xfrm xmlns:a="http://schemas.openxmlformats.org/drawingml/2006/main">
            <a:off x="540000" y="432000"/>
            <a:ext cx="1080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0F3460"/>
                </a:solidFill>
              </a:rPr>
              <a:t>Weekly Shopping List — From .md Plan</a:t>
            </a:r>
          </a:p>
        </p:txBody>
      </p:sp>
      <p:sp>
        <p:nvSpPr>
          <p:cNvPr id="100146" name="Divider"/>
          <p:cNvSpPr txBox="1"/>
          <p:nvPr/>
        </p:nvSpPr>
        <p:spPr>
          <a:xfrm xmlns:a="http://schemas.openxmlformats.org/drawingml/2006/main">
            <a:off x="540000" y="936000"/>
            <a:ext cx="10800000" cy="288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p:txBody>
      </p:sp>
      <p:sp>
        <p:nvSpPr>
          <p:cNvPr id="100147" name="Cat1"/>
          <p:cNvSpPr txBox="1"/>
          <p:nvPr/>
        </p:nvSpPr>
        <p:spPr>
          <a:xfrm xmlns:a="http://schemas.openxmlformats.org/drawingml/2006/main">
            <a:off x="540000" y="1080000"/>
            <a:ext cx="3240000" cy="2520000"/>
          </a:xfrm>
          <a:prstGeom xmlns:a="http://schemas.openxmlformats.org/drawingml/2006/main" prst="rect">
            <a:avLst/>
          </a:prstGeom>
          <a:solidFill xmlns:a="http://schemas.openxmlformats.org/drawingml/2006/main">
            <a:srgbClr val="FFF8E1"/>
          </a:solidFill>
        </p:spPr>
        <p:txBody>
          <a:bodyPr xmlns:a="http://schemas.openxmlformats.org/drawingml/2006/main"/>
          <a:lstStyle xmlns:a="http://schemas.openxmlformats.org/drawingml/2006/main"/>
          <a:p xmlns:a="http://schemas.openxmlformats.org/drawingml/2006/main">
            <a:r>
              <a:rPr lang="en-US" sz="1200" b="0">
                <a:solidFill>
                  <a:srgbClr val="1F2328"/>
                </a:solidFill>
              </a:rPr>
              <a:t>GRAINS &amp; LEGUMES</a:t>
            </a:r>
          </a:p>
          <a:p xmlns:a="http://schemas.openxmlformats.org/drawingml/2006/main">
            <a:r>
              <a:rPr lang="en-US" sz="1200" b="0">
                <a:solidFill>
                  <a:srgbClr val="1F2328"/>
                </a:solidFill>
              </a:rPr>
              <a:t/>
            </a:r>
          </a:p>
          <a:p xmlns:a="http://schemas.openxmlformats.org/drawingml/2006/main">
            <a:r>
              <a:rPr lang="en-US" sz="1200" b="0">
                <a:solidFill>
                  <a:srgbClr val="1F2328"/>
                </a:solidFill>
              </a:rPr>
              <a:t>Brown rice (500g)</a:t>
            </a:r>
          </a:p>
          <a:p xmlns:a="http://schemas.openxmlformats.org/drawingml/2006/main">
            <a:r>
              <a:rPr lang="en-US" sz="1200" b="0">
                <a:solidFill>
                  <a:srgbClr val="1F2328"/>
                </a:solidFill>
              </a:rPr>
              <a:t>Oats — steel cut (500g)</a:t>
            </a:r>
          </a:p>
          <a:p xmlns:a="http://schemas.openxmlformats.org/drawingml/2006/main">
            <a:r>
              <a:rPr lang="en-US" sz="1200" b="0">
                <a:solidFill>
                  <a:srgbClr val="1F2328"/>
                </a:solidFill>
              </a:rPr>
              <a:t>Ragi flour (500g)</a:t>
            </a:r>
          </a:p>
          <a:p xmlns:a="http://schemas.openxmlformats.org/drawingml/2006/main">
            <a:r>
              <a:rPr lang="en-US" sz="1200" b="0">
                <a:solidFill>
                  <a:srgbClr val="1F2328"/>
                </a:solidFill>
              </a:rPr>
              <a:t>Moong dal (500g)</a:t>
            </a:r>
          </a:p>
          <a:p xmlns:a="http://schemas.openxmlformats.org/drawingml/2006/main">
            <a:r>
              <a:rPr lang="en-US" sz="1200" b="0">
                <a:solidFill>
                  <a:srgbClr val="1F2328"/>
                </a:solidFill>
              </a:rPr>
              <a:t>Chana dal (500g)</a:t>
            </a:r>
          </a:p>
          <a:p xmlns:a="http://schemas.openxmlformats.org/drawingml/2006/main">
            <a:r>
              <a:rPr lang="en-US" sz="1200" b="0">
                <a:solidFill>
                  <a:srgbClr val="1F2328"/>
                </a:solidFill>
              </a:rPr>
              <a:t>Rajma (250g)</a:t>
            </a:r>
          </a:p>
          <a:p xmlns:a="http://schemas.openxmlformats.org/drawingml/2006/main">
            <a:r>
              <a:rPr lang="en-US" sz="1200" b="0">
                <a:solidFill>
                  <a:srgbClr val="1F2328"/>
                </a:solidFill>
              </a:rPr>
              <a:t>Whole wheat flour (1 kg)</a:t>
            </a:r>
          </a:p>
        </p:txBody>
      </p:sp>
      <p:sp>
        <p:nvSpPr>
          <p:cNvPr id="100148" name="Cat2"/>
          <p:cNvSpPr txBox="1"/>
          <p:nvPr/>
        </p:nvSpPr>
        <p:spPr>
          <a:xfrm xmlns:a="http://schemas.openxmlformats.org/drawingml/2006/main">
            <a:off x="4140000" y="1080000"/>
            <a:ext cx="3240000" cy="2520000"/>
          </a:xfrm>
          <a:prstGeom xmlns:a="http://schemas.openxmlformats.org/drawingml/2006/main" prst="rect">
            <a:avLst/>
          </a:prstGeom>
          <a:solidFill xmlns:a="http://schemas.openxmlformats.org/drawingml/2006/main">
            <a:srgbClr val="198038"/>
          </a:solidFill>
        </p:spPr>
        <p:txBody>
          <a:bodyPr xmlns:a="http://schemas.openxmlformats.org/drawingml/2006/main"/>
          <a:lstStyle xmlns:a="http://schemas.openxmlformats.org/drawingml/2006/main"/>
          <a:p xmlns:a="http://schemas.openxmlformats.org/drawingml/2006/main">
            <a:r>
              <a:rPr lang="en-US" sz="1200" b="0">
                <a:solidFill>
                  <a:srgbClr val="FFFFFF"/>
                </a:solidFill>
              </a:rPr>
              <a:t>VEGETABLES</a:t>
            </a:r>
          </a:p>
          <a:p xmlns:a="http://schemas.openxmlformats.org/drawingml/2006/main">
            <a:r>
              <a:rPr lang="en-US" sz="1200" b="0">
                <a:solidFill>
                  <a:srgbClr val="FFFFFF"/>
                </a:solidFill>
              </a:rPr>
              <a:t/>
            </a:r>
          </a:p>
          <a:p xmlns:a="http://schemas.openxmlformats.org/drawingml/2006/main">
            <a:r>
              <a:rPr lang="en-US" sz="1200" b="0">
                <a:solidFill>
                  <a:srgbClr val="FFFFFF"/>
                </a:solidFill>
              </a:rPr>
              <a:t>Bitter gourd (karela)</a:t>
            </a:r>
          </a:p>
          <a:p xmlns:a="http://schemas.openxmlformats.org/drawingml/2006/main">
            <a:r>
              <a:rPr lang="en-US" sz="1200" b="0">
                <a:solidFill>
                  <a:srgbClr val="FFFFFF"/>
                </a:solidFill>
              </a:rPr>
              <a:t>Drumstick leaves</a:t>
            </a:r>
          </a:p>
          <a:p xmlns:a="http://schemas.openxmlformats.org/drawingml/2006/main">
            <a:r>
              <a:rPr lang="en-US" sz="1200" b="0">
                <a:solidFill>
                  <a:srgbClr val="FFFFFF"/>
                </a:solidFill>
              </a:rPr>
              <a:t>Fenugreek leaves</a:t>
            </a:r>
          </a:p>
          <a:p xmlns:a="http://schemas.openxmlformats.org/drawingml/2006/main">
            <a:r>
              <a:rPr lang="en-US" sz="1200" b="0">
                <a:solidFill>
                  <a:srgbClr val="FFFFFF"/>
                </a:solidFill>
              </a:rPr>
              <a:t>Spinach, Broccoli</a:t>
            </a:r>
          </a:p>
          <a:p xmlns:a="http://schemas.openxmlformats.org/drawingml/2006/main">
            <a:r>
              <a:rPr lang="en-US" sz="1200" b="0">
                <a:solidFill>
                  <a:srgbClr val="FFFFFF"/>
                </a:solidFill>
              </a:rPr>
              <a:t>Cauliflower, Beans</a:t>
            </a:r>
          </a:p>
          <a:p xmlns:a="http://schemas.openxmlformats.org/drawingml/2006/main">
            <a:r>
              <a:rPr lang="en-US" sz="1200" b="0">
                <a:solidFill>
                  <a:srgbClr val="FFFFFF"/>
                </a:solidFill>
              </a:rPr>
              <a:t>Tomatoes, Cucumber</a:t>
            </a:r>
          </a:p>
          <a:p xmlns:a="http://schemas.openxmlformats.org/drawingml/2006/main">
            <a:r>
              <a:rPr lang="en-US" sz="1200" b="0">
                <a:solidFill>
                  <a:srgbClr val="FFFFFF"/>
                </a:solidFill>
              </a:rPr>
              <a:t>Bell peppers</a:t>
            </a:r>
          </a:p>
        </p:txBody>
      </p:sp>
      <p:sp>
        <p:nvSpPr>
          <p:cNvPr id="100149" name="Cat3"/>
          <p:cNvSpPr txBox="1"/>
          <p:nvPr/>
        </p:nvSpPr>
        <p:spPr>
          <a:xfrm xmlns:a="http://schemas.openxmlformats.org/drawingml/2006/main">
            <a:off x="7740000" y="1080000"/>
            <a:ext cx="3528000" cy="2520000"/>
          </a:xfrm>
          <a:prstGeom xmlns:a="http://schemas.openxmlformats.org/drawingml/2006/main" prst="rect">
            <a:avLst/>
          </a:prstGeom>
          <a:solidFill xmlns:a="http://schemas.openxmlformats.org/drawingml/2006/main">
            <a:srgbClr val="E8F4FD"/>
          </a:solidFill>
        </p:spPr>
        <p:txBody>
          <a:bodyPr xmlns:a="http://schemas.openxmlformats.org/drawingml/2006/main"/>
          <a:lstStyle xmlns:a="http://schemas.openxmlformats.org/drawingml/2006/main"/>
          <a:p xmlns:a="http://schemas.openxmlformats.org/drawingml/2006/main">
            <a:r>
              <a:rPr lang="en-US" sz="1200" b="0">
                <a:solidFill>
                  <a:srgbClr val="1F2328"/>
                </a:solidFill>
              </a:rPr>
              <a:t>FRUITS</a:t>
            </a:r>
          </a:p>
          <a:p xmlns:a="http://schemas.openxmlformats.org/drawingml/2006/main">
            <a:r>
              <a:rPr lang="en-US" sz="1200" b="0">
                <a:solidFill>
                  <a:srgbClr val="1F2328"/>
                </a:solidFill>
              </a:rPr>
              <a:t/>
            </a:r>
          </a:p>
          <a:p xmlns:a="http://schemas.openxmlformats.org/drawingml/2006/main">
            <a:r>
              <a:rPr lang="en-US" sz="1200" b="0">
                <a:solidFill>
                  <a:srgbClr val="1F2328"/>
                </a:solidFill>
              </a:rPr>
              <a:t>Amla (gooseberry)</a:t>
            </a:r>
          </a:p>
          <a:p xmlns:a="http://schemas.openxmlformats.org/drawingml/2006/main">
            <a:r>
              <a:rPr lang="en-US" sz="1200" b="0">
                <a:solidFill>
                  <a:srgbClr val="1F2328"/>
                </a:solidFill>
              </a:rPr>
              <a:t>Jamun (in season)</a:t>
            </a:r>
          </a:p>
          <a:p xmlns:a="http://schemas.openxmlformats.org/drawingml/2006/main">
            <a:r>
              <a:rPr lang="en-US" sz="1200" b="0">
                <a:solidFill>
                  <a:srgbClr val="1F2328"/>
                </a:solidFill>
              </a:rPr>
              <a:t>Apple, Guava</a:t>
            </a:r>
          </a:p>
          <a:p xmlns:a="http://schemas.openxmlformats.org/drawingml/2006/main">
            <a:r>
              <a:rPr lang="en-US" sz="1200" b="0">
                <a:solidFill>
                  <a:srgbClr val="1F2328"/>
                </a:solidFill>
              </a:rPr>
              <a:t>Papaya</a:t>
            </a:r>
          </a:p>
          <a:p xmlns:a="http://schemas.openxmlformats.org/drawingml/2006/main">
            <a:r>
              <a:rPr lang="en-US" sz="1200" b="0">
                <a:solidFill>
                  <a:srgbClr val="1F2328"/>
                </a:solidFill>
              </a:rPr>
              <a:t/>
            </a:r>
          </a:p>
          <a:p xmlns:a="http://schemas.openxmlformats.org/drawingml/2006/main">
            <a:r>
              <a:rPr lang="en-US" sz="1200" b="0">
                <a:solidFill>
                  <a:srgbClr val="1F2328"/>
                </a:solidFill>
              </a:rPr>
              <a:t>(Avoid: mango,</a:t>
            </a:r>
          </a:p>
          <a:p xmlns:a="http://schemas.openxmlformats.org/drawingml/2006/main">
            <a:r>
              <a:rPr lang="en-US" sz="1200" b="0">
                <a:solidFill>
                  <a:srgbClr val="1F2328"/>
                </a:solidFill>
              </a:rPr>
              <a:t>banana, grapes</a:t>
            </a:r>
          </a:p>
          <a:p xmlns:a="http://schemas.openxmlformats.org/drawingml/2006/main">
            <a:r>
              <a:rPr lang="en-US" sz="1200" b="0">
                <a:solidFill>
                  <a:srgbClr val="1F2328"/>
                </a:solidFill>
              </a:rPr>
              <a:t>in large qty)</a:t>
            </a:r>
          </a:p>
        </p:txBody>
      </p:sp>
      <p:sp>
        <p:nvSpPr>
          <p:cNvPr id="100150" name="Cat4"/>
          <p:cNvSpPr txBox="1"/>
          <p:nvPr/>
        </p:nvSpPr>
        <p:spPr>
          <a:xfrm xmlns:a="http://schemas.openxmlformats.org/drawingml/2006/main">
            <a:off x="540000" y="3708000"/>
            <a:ext cx="3240000" cy="1800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1200" b="0">
                <a:solidFill>
                  <a:srgbClr val="FFFFFF"/>
                </a:solidFill>
              </a:rPr>
              <a:t>PROTEINS</a:t>
            </a:r>
          </a:p>
          <a:p xmlns:a="http://schemas.openxmlformats.org/drawingml/2006/main">
            <a:r>
              <a:rPr lang="en-US" sz="1200" b="0">
                <a:solidFill>
                  <a:srgbClr val="FFFFFF"/>
                </a:solidFill>
              </a:rPr>
              <a:t/>
            </a:r>
          </a:p>
          <a:p xmlns:a="http://schemas.openxmlformats.org/drawingml/2006/main">
            <a:r>
              <a:rPr lang="en-US" sz="1200" b="0">
                <a:solidFill>
                  <a:srgbClr val="FFFFFF"/>
                </a:solidFill>
              </a:rPr>
              <a:t>Paneer 200g (low-fat)</a:t>
            </a:r>
          </a:p>
          <a:p xmlns:a="http://schemas.openxmlformats.org/drawingml/2006/main">
            <a:r>
              <a:rPr lang="en-US" sz="1200" b="0">
                <a:solidFill>
                  <a:srgbClr val="FFFFFF"/>
                </a:solidFill>
              </a:rPr>
              <a:t>Tofu (200g)</a:t>
            </a:r>
          </a:p>
          <a:p xmlns:a="http://schemas.openxmlformats.org/drawingml/2006/main">
            <a:r>
              <a:rPr lang="en-US" sz="1200" b="0">
                <a:solidFill>
                  <a:srgbClr val="FFFFFF"/>
                </a:solidFill>
              </a:rPr>
              <a:t>Low-fat yoghurt (500g)</a:t>
            </a:r>
          </a:p>
          <a:p xmlns:a="http://schemas.openxmlformats.org/drawingml/2006/main">
            <a:r>
              <a:rPr lang="en-US" sz="1200" b="0">
                <a:solidFill>
                  <a:srgbClr val="FFFFFF"/>
                </a:solidFill>
              </a:rPr>
              <a:t>Skimmed milk (1L)</a:t>
            </a:r>
          </a:p>
          <a:p xmlns:a="http://schemas.openxmlformats.org/drawingml/2006/main">
            <a:r>
              <a:rPr lang="en-US" sz="1200" b="0">
                <a:solidFill>
                  <a:srgbClr val="FFFFFF"/>
                </a:solidFill>
              </a:rPr>
              <a:t>Eggs (if acceptable)</a:t>
            </a:r>
          </a:p>
        </p:txBody>
      </p:sp>
      <p:sp>
        <p:nvSpPr>
          <p:cNvPr id="100151" name="Cat5"/>
          <p:cNvSpPr txBox="1"/>
          <p:nvPr/>
        </p:nvSpPr>
        <p:spPr>
          <a:xfrm xmlns:a="http://schemas.openxmlformats.org/drawingml/2006/main">
            <a:off x="4140000" y="3708000"/>
            <a:ext cx="3240000" cy="1800000"/>
          </a:xfrm>
          <a:prstGeom xmlns:a="http://schemas.openxmlformats.org/drawingml/2006/main" prst="rect">
            <a:avLst/>
          </a:prstGeom>
          <a:solidFill xmlns:a="http://schemas.openxmlformats.org/drawingml/2006/main">
            <a:srgbClr val="F4F4F4"/>
          </a:solidFill>
        </p:spPr>
        <p:txBody>
          <a:bodyPr xmlns:a="http://schemas.openxmlformats.org/drawingml/2006/main"/>
          <a:lstStyle xmlns:a="http://schemas.openxmlformats.org/drawingml/2006/main"/>
          <a:p xmlns:a="http://schemas.openxmlformats.org/drawingml/2006/main">
            <a:r>
              <a:rPr lang="en-US" sz="1200" b="0">
                <a:solidFill>
                  <a:srgbClr val="1F2328"/>
                </a:solidFill>
              </a:rPr>
              <a:t>NUTS, SEEDS &amp; OILS</a:t>
            </a:r>
          </a:p>
          <a:p xmlns:a="http://schemas.openxmlformats.org/drawingml/2006/main">
            <a:r>
              <a:rPr lang="en-US" sz="1200" b="0">
                <a:solidFill>
                  <a:srgbClr val="1F2328"/>
                </a:solidFill>
              </a:rPr>
              <a:t/>
            </a:r>
          </a:p>
          <a:p xmlns:a="http://schemas.openxmlformats.org/drawingml/2006/main">
            <a:r>
              <a:rPr lang="en-US" sz="1200" b="0">
                <a:solidFill>
                  <a:srgbClr val="1F2328"/>
                </a:solidFill>
              </a:rPr>
              <a:t>Almonds (200g)</a:t>
            </a:r>
          </a:p>
          <a:p xmlns:a="http://schemas.openxmlformats.org/drawingml/2006/main">
            <a:r>
              <a:rPr lang="en-US" sz="1200" b="0">
                <a:solidFill>
                  <a:srgbClr val="1F2328"/>
                </a:solidFill>
              </a:rPr>
              <a:t>Walnuts (100g)</a:t>
            </a:r>
          </a:p>
          <a:p xmlns:a="http://schemas.openxmlformats.org/drawingml/2006/main">
            <a:r>
              <a:rPr lang="en-US" sz="1200" b="0">
                <a:solidFill>
                  <a:srgbClr val="1F2328"/>
                </a:solidFill>
              </a:rPr>
              <a:t>Flaxseeds (150g)</a:t>
            </a:r>
          </a:p>
          <a:p xmlns:a="http://schemas.openxmlformats.org/drawingml/2006/main">
            <a:r>
              <a:rPr lang="en-US" sz="1200" b="0">
                <a:solidFill>
                  <a:srgbClr val="1F2328"/>
                </a:solidFill>
              </a:rPr>
              <a:t>Chia seeds (100g)</a:t>
            </a:r>
          </a:p>
          <a:p xmlns:a="http://schemas.openxmlformats.org/drawingml/2006/main">
            <a:r>
              <a:rPr lang="en-US" sz="1200" b="0">
                <a:solidFill>
                  <a:srgbClr val="1F2328"/>
                </a:solidFill>
              </a:rPr>
              <a:t>Olive / groundnut oil</a:t>
            </a:r>
          </a:p>
        </p:txBody>
      </p:sp>
      <p:sp>
        <p:nvSpPr>
          <p:cNvPr id="100152" name="Cat6"/>
          <p:cNvSpPr txBox="1"/>
          <p:nvPr/>
        </p:nvSpPr>
        <p:spPr>
          <a:xfrm xmlns:a="http://schemas.openxmlformats.org/drawingml/2006/main">
            <a:off x="7740000" y="3708000"/>
            <a:ext cx="3528000" cy="180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200" b="0">
                <a:solidFill>
                  <a:srgbClr val="FFFFFF"/>
                </a:solidFill>
              </a:rPr>
              <a:t>SPICES</a:t>
            </a:r>
          </a:p>
          <a:p xmlns:a="http://schemas.openxmlformats.org/drawingml/2006/main">
            <a:r>
              <a:rPr lang="en-US" sz="1200" b="0">
                <a:solidFill>
                  <a:srgbClr val="FFFFFF"/>
                </a:solidFill>
              </a:rPr>
              <a:t/>
            </a:r>
          </a:p>
          <a:p xmlns:a="http://schemas.openxmlformats.org/drawingml/2006/main">
            <a:r>
              <a:rPr lang="en-US" sz="1200" b="0">
                <a:solidFill>
                  <a:srgbClr val="FFFFFF"/>
                </a:solidFill>
              </a:rPr>
              <a:t>Cinnamon, Turmeric</a:t>
            </a:r>
          </a:p>
          <a:p xmlns:a="http://schemas.openxmlformats.org/drawingml/2006/main">
            <a:r>
              <a:rPr lang="en-US" sz="1200" b="0">
                <a:solidFill>
                  <a:srgbClr val="FFFFFF"/>
                </a:solidFill>
              </a:rPr>
              <a:t>Fenugreek seeds</a:t>
            </a:r>
          </a:p>
          <a:p xmlns:a="http://schemas.openxmlformats.org/drawingml/2006/main">
            <a:r>
              <a:rPr lang="en-US" sz="1200" b="0">
                <a:solidFill>
                  <a:srgbClr val="FFFFFF"/>
                </a:solidFill>
              </a:rPr>
              <a:t>Cumin, Coriander</a:t>
            </a:r>
          </a:p>
          <a:p xmlns:a="http://schemas.openxmlformats.org/drawingml/2006/main">
            <a:r>
              <a:rPr lang="en-US" sz="1200" b="0">
                <a:solidFill>
                  <a:srgbClr val="FFFFFF"/>
                </a:solidFill>
              </a:rPr>
              <a:t>Garlic, Ginger (fresh)</a:t>
            </a:r>
          </a:p>
          <a:p xmlns:a="http://schemas.openxmlformats.org/drawingml/2006/main">
            <a:r>
              <a:rPr lang="en-US" sz="1200" b="0">
                <a:solidFill>
                  <a:srgbClr val="FFFFFF"/>
                </a:solidFill>
              </a:rPr>
              <a:t>Black pepper</a:t>
            </a:r>
          </a:p>
        </p:txBody>
      </p:sp>
      <p:sp>
        <p:nvSpPr>
          <p:cNvPr id="100153" name="BottomLine"/>
          <p:cNvSpPr txBox="1"/>
          <p:nvPr/>
        </p:nvSpPr>
        <p:spPr>
          <a:xfrm xmlns:a="http://schemas.openxmlformats.org/drawingml/2006/main">
            <a:off x="0" y="6408000"/>
            <a:ext cx="12193200" cy="432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1200">
                <a:solidFill>
                  <a:srgbClr val="FFFFFF"/>
                </a:solidFill>
              </a:rPr>
              <a:t>Source: nutrition_plans/sample_nutrition_plan_demo.md — Section: Weekly Shopping List</a:t>
            </a:r>
          </a:p>
        </p:txBody>
      </p:sp>
    </p:spTree>
  </p:cSld>
</p:sld>
</file>

<file path=ppt/slides/slide17.xml><?xml version="1.0" encoding="utf-8"?>
<p:sld xmlns:p="http://schemas.openxmlformats.org/presentationml/2006/main">
  <p:cSld>
    <p:bg>
      <p:bgPr>
        <a:solidFill xmlns:a="http://schemas.openxmlformats.org/drawingml/2006/main">
          <a:srgbClr val="0F3460"/>
        </a:solidFill>
      </p:bgPr>
    </p:bg>
    <p:spTree>
      <p:nvGrpSpPr>
        <p:cNvPr id="1" name=""/>
        <p:cNvGrpSpPr/>
        <p:nvPr/>
      </p:nvGrpSpPr>
      <p:grpSpPr/>
      <p:sp>
        <p:nvSpPr>
          <p:cNvPr id="100154" name="TopBar"/>
          <p:cNvSpPr txBox="1"/>
          <p:nvPr/>
        </p:nvSpPr>
        <p:spPr>
          <a:xfrm xmlns:a="http://schemas.openxmlformats.org/drawingml/2006/main">
            <a:off x="0" y="0"/>
            <a:ext cx="12193200" cy="288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100" b="1">
                <a:solidFill>
                  <a:srgbClr val="FFFFFF"/>
                </a:solidFill>
              </a:rPr>
              <a:t>NutriGuide AI  |  Thank You</a:t>
            </a:r>
          </a:p>
        </p:txBody>
      </p:sp>
      <p:sp>
        <p:nvSpPr>
          <p:cNvPr id="100155" name="Emoji"/>
          <p:cNvSpPr txBox="1"/>
          <p:nvPr/>
        </p:nvSpPr>
        <p:spPr>
          <a:xfrm xmlns:a="http://schemas.openxmlformats.org/drawingml/2006/main">
            <a:off x="5040000" y="540000"/>
            <a:ext cx="2160000" cy="12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7200">
                <a:solidFill>
                  <a:srgbClr val="FFFFFF"/>
                </a:solidFill>
              </a:rPr>
              <a:t>🥗</a:t>
            </a:r>
          </a:p>
        </p:txBody>
      </p:sp>
      <p:sp>
        <p:nvSpPr>
          <p:cNvPr id="100156" name="Title"/>
          <p:cNvSpPr txBox="1"/>
          <p:nvPr/>
        </p:nvSpPr>
        <p:spPr>
          <a:xfrm xmlns:a="http://schemas.openxmlformats.org/drawingml/2006/main">
            <a:off x="540000" y="1800000"/>
            <a:ext cx="1080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5400" b="1">
                <a:solidFill>
                  <a:srgbClr val="FFFFFF"/>
                </a:solidFill>
              </a:rPr>
              <a:t>Thank You</a:t>
            </a:r>
          </a:p>
        </p:txBody>
      </p:sp>
      <p:sp>
        <p:nvSpPr>
          <p:cNvPr id="100157" name="Sub"/>
          <p:cNvSpPr txBox="1"/>
          <p:nvPr/>
        </p:nvSpPr>
        <p:spPr>
          <a:xfrm xmlns:a="http://schemas.openxmlformats.org/drawingml/2006/main">
            <a:off x="540000" y="2592000"/>
            <a:ext cx="1080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000">
                <a:solidFill>
                  <a:srgbClr val="A8C7FA"/>
                </a:solidFill>
              </a:rPr>
              <a:t>NutriGuide AI — Personalised Nutrition Agent powered by IBM Granite LLM</a:t>
            </a:r>
          </a:p>
        </p:txBody>
      </p:sp>
      <p:sp>
        <p:nvSpPr>
          <p:cNvPr id="100158" name="RepoLine"/>
          <p:cNvSpPr txBox="1"/>
          <p:nvPr/>
        </p:nvSpPr>
        <p:spPr>
          <a:xfrm xmlns:a="http://schemas.openxmlformats.org/drawingml/2006/main">
            <a:off x="540000" y="3240000"/>
            <a:ext cx="36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600" b="1">
                <a:solidFill>
                  <a:srgbClr val="78B9FF"/>
                </a:solidFill>
              </a:rPr>
              <a:t>GitHub Repository</a:t>
            </a:r>
          </a:p>
        </p:txBody>
      </p:sp>
      <p:sp>
        <p:nvSpPr>
          <p:cNvPr id="100159" name="RepoURL"/>
          <p:cNvSpPr txBox="1"/>
          <p:nvPr/>
        </p:nvSpPr>
        <p:spPr>
          <a:xfrm xmlns:a="http://schemas.openxmlformats.org/drawingml/2006/main">
            <a:off x="540000" y="3528000"/>
            <a:ext cx="108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600" b="0">
                <a:solidFill>
                  <a:srgbClr val="FFFFFF"/>
                </a:solidFill>
              </a:rPr>
              <a:t>https://github.com/CreativeCrew2026/NutritionAgent</a:t>
            </a:r>
          </a:p>
        </p:txBody>
      </p:sp>
      <p:sp>
        <p:nvSpPr>
          <p:cNvPr id="100160" name="Summary"/>
          <p:cNvSpPr txBox="1"/>
          <p:nvPr/>
        </p:nvSpPr>
        <p:spPr>
          <a:xfrm xmlns:a="http://schemas.openxmlformats.org/drawingml/2006/main">
            <a:off x="540000" y="4032000"/>
            <a:ext cx="10800000" cy="324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b="0">
                <a:solidFill>
                  <a:srgbClr val="78B9FF"/>
                </a:solidFill>
              </a:rPr>
              <a:t>18 Slides  |  13 Files Committed  |  2,969 Lines of Code  |  6 REST Endpoints  |  8+ Guardrails  |  7 SDLC Phases</a:t>
            </a:r>
          </a:p>
        </p:txBody>
      </p:sp>
      <p:sp>
        <p:nvSpPr>
          <p:cNvPr id="100161" name="Stack"/>
          <p:cNvSpPr txBox="1"/>
          <p:nvPr/>
        </p:nvSpPr>
        <p:spPr>
          <a:xfrm xmlns:a="http://schemas.openxmlformats.org/drawingml/2006/main">
            <a:off x="540000" y="4464000"/>
            <a:ext cx="108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b="0">
                <a:solidFill>
                  <a:srgbClr val="A8C7FA"/>
                </a:solidFill>
              </a:rPr>
              <a:t>IBM Granite 13B  •  watsonx.ai  •  Flask 3.0  •  Python 3.13  •  HTML5 / CSS3 / JS  •  Markdown .md</a:t>
            </a:r>
          </a:p>
        </p:txBody>
      </p:sp>
      <p:sp>
        <p:nvSpPr>
          <p:cNvPr id="100162" name="Ethics"/>
          <p:cNvSpPr txBox="1"/>
          <p:nvPr/>
        </p:nvSpPr>
        <p:spPr>
          <a:xfrm xmlns:a="http://schemas.openxmlformats.org/drawingml/2006/main">
            <a:off x="540000" y="4824000"/>
            <a:ext cx="108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b="0">
                <a:solidFill>
                  <a:srgbClr val="A8C7FA"/>
                </a:solidFill>
              </a:rPr>
              <a:t>Built with IBM AI Ethics  •  HAM Tone  •  Medical Guardrails  •  Responsible AI</a:t>
            </a:r>
          </a:p>
        </p:txBody>
      </p:sp>
      <p:sp>
        <p:nvSpPr>
          <p:cNvPr id="100163" name="BottomLine"/>
          <p:cNvSpPr txBox="1"/>
          <p:nvPr/>
        </p:nvSpPr>
        <p:spPr>
          <a:xfrm xmlns:a="http://schemas.openxmlformats.org/drawingml/2006/main">
            <a:off x="0" y="6408000"/>
            <a:ext cx="12193200" cy="432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200">
                <a:solidFill>
                  <a:srgbClr val="FFFFFF"/>
                </a:solidFill>
              </a:rPr>
              <a:t>NutriGuide AI — Responsible Nutrition Intelligence  |  MIT License  |  2025</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OfficeCLI/1.0.144</ap:Application>
</ap:Properties>
</file>

<file path=docProps/core.xml><?xml version="1.0" encoding="utf-8"?>
<cp:coreProperties xmlns:cp="http://schemas.openxmlformats.org/package/2006/metadata/core-properties" xmlns:dc="http://purl.org/dc/elements/1.1/" xmlns:dcterms="http://purl.org/dc/terms/" xmlns:xsi="http://www.w3.org/2001/XMLSchema-instance">
  <dc:creator>OfficeCLI</dc:creator>
  <dcterms:created xsi:type="dcterms:W3CDTF">2026-10-13T09:47:11Z</dcterms:created>
  <cp:lastModifiedBy>OfficeCLI</cp:lastModifiedBy>
  <dcterms:modified xsi:type="dcterms:W3CDTF">2026-10-13T09:47:11Z</dcterms:modified>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1.0.157</vt:lpwstr>
  </op:property>
  <op:property fmtid="{D5CDD505-2E9C-101B-9397-08002B2CF9AE}" pid="3" name="OfficeCLI.LastModified">
    <vt:lpwstr xmlns:vt="http://schemas.openxmlformats.org/officeDocument/2006/docPropsVTypes">2026-10-13T10:01:48Z</vt:lpwstr>
  </op:property>
</op:Properties>
</file>